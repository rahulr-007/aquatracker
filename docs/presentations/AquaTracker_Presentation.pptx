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35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aquatracker/icons/wa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IoT WATER MONITORING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AquaTracker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94360" y="3886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pH, turbidity and water-level tracking with automatic SMS alerts — built on Arduino UNO and GSM, running entirely off-grid on solar power.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4892040"/>
            <a:ext cx="2926080" cy="0"/>
          </a:xfrm>
          <a:prstGeom prst="line">
            <a:avLst/>
          </a:prstGeom>
          <a:noFill/>
          <a:ln w="12700">
            <a:solidFill>
              <a:srgbClr val="3D6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Project Showcase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water monitoring falls short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quatracker/icons/ey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25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and underground tanks are checked physically — problems are found only after they happen.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745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quatracker/icons/flas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0025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water goes unnoticed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5146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imbalance and rising turbidity are invisible to the eye until water is already unsafe to use.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aquatracker/icons/bo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4714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25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&amp; wastage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Tanks overflow silently, wasting pumped water and electricity, especially in unattended installations.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4069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1C2B3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3434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aquatracker/icons/wren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47141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power option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29400" y="4983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setups need mains power and Wi-Fi, ruling out farms, rooftops and remote sites.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AquaTracker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cases across everyday water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011680"/>
            <a:ext cx="822960" cy="82296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6" name="Image 0" descr="/home/claude/aquatracker/icons/hom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&amp; apartments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/ sump tank overflow prevention and drinking water quality checks.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459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2011680"/>
            <a:ext cx="822960" cy="82296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1" name="Image 1" descr="/home/claude/aquatracker/icons/seedling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7947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tanks and farm ponds monitored for level and turbidity, off-grid on solar.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6459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011680"/>
            <a:ext cx="822960" cy="82296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6" name="Image 2" descr="/home/claude/aquatracker/icons/industry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sites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37947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water and effluent tanks tracked continuously without manual rounds.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64592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81260" y="2011680"/>
            <a:ext cx="822960" cy="82296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1" name="Image 3" descr="/home/claude/aquatracker/icons/mapmarker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22402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rural areas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18320" y="379476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4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mains power or broadband needed — solar + GSM covers areas Wi-Fi can't.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AquaTracker Is Convenient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run itself, on-site, with zero manual checks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quatracker/icons/sol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28216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solar powered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57800" y="15544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battery charged by a solar panel — works continuously with no mains electricity dependency.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aquatracker/icons/sm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779776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come to you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5257800" y="26060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or dashboard to check — SMS alerts land directly on any basic mobile phone via GSM.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7216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quatracker/icons/pho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31336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Call-and-check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257800" y="36576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call the device's SIM number and instantly get an SMS back with live readings.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7731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aquatracker/icons/cpu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882896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simple hardware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257800" y="4709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an Arduino UNO with off-the-shelf sensors — easy to replicate and maintain.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the UN Sustainable Development Goals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 directly supports SDG 6: Clean Water and Sanitation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0" cy="4343400"/>
          </a:xfrm>
          <a:prstGeom prst="roundRect">
            <a:avLst>
              <a:gd name="adj" fmla="val 2647"/>
            </a:avLst>
          </a:prstGeom>
          <a:solidFill>
            <a:srgbClr val="26BDE2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94560"/>
            <a:ext cx="1371600" cy="13716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6" name="Image 0" descr="/home/claude/aquatracker/icons/droplet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5146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6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Sanitation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E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E7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17556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aquatracker/icons/flas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185623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drinking water monitoring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36592" y="2057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pH and turbidity tracking helps catch unsafe or contaminated water early, supporting SDG target 6.1 on safe and affordable drinking water.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14800" y="2807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aquatracker/icons/wav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290779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water wastage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36592" y="3108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alerts prevent silent tank overflow, cutting down on wasted treated water in line with SDG target 6.4 on water-use efficiency.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114800" y="38587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aquatracker/icons/sol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39593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36592" y="3794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Sustainable, off-grid operation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736592" y="4160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 keeps monitoring running without adding to grid electricity demand, keeping the solution itself low-impact.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114800" y="49103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aquatracker/icons/mapmarke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5384" y="501091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36592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access to underserved areas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736592" y="5212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GSM-based alerts bring quality monitoring to rural and remote communities that lack smart water infrastructure.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Solar-charged battery → Arduino UNO → sensors → GSM → SMS to user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6E4EA"/>
            </a:solidFill>
            <a:prstDash val="solid"/>
          </a:ln>
          <a:effectLst>
            <a:outerShdw blurRad="101600" dist="25400" dir="5400000" algn="bl" rotWithShape="0">
              <a:srgbClr val="1C2B36">
                <a:alpha val="10000"/>
              </a:srgbClr>
            </a:outerShdw>
          </a:effectLst>
        </p:spPr>
      </p:sp>
      <p:pic>
        <p:nvPicPr>
          <p:cNvPr id="5" name="Image 0" descr="/home/claude/aquatracker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38" y="1783080"/>
            <a:ext cx="6280843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in the architecture, and the job it does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6634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 + 12V battery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Off-grid power source; keeps the unit running continuously without mains electricity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controller — reads all sensors, runs the logic, drives the display and GSM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sensor (analog)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acidity/alkalinity of the water sample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Turbidity sensor (analog)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water clarity / suspended particles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ultrasonic sensor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distance to the water surface to calculate tank level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SIM800/900 GSM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SMS alerts and replies to incoming calls with live readings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SSD1306 OLED display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live pH, level and quality readings on-site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 → evaluate → alert cycle, repeated continuously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EA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0" descr="/home/claude/aquatracker/icons/bolt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013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up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8072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keeps the 12V battery topped up; Arduino &amp; GSM run off it directly.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EAF3F6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3" name="Image 1" descr="/home/claude/aquatracker/icons/gauge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8013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26280" y="28072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turbidity and ultrasonic level are sampled and noise-filtered every cycle.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EAF3F6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4"/>
          <p:cNvSpPr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19" name="Image 2" descr="/home/claude/aquatracker/icons/chartline_1C72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180136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readings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75320" y="280720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formulas turn raw voltages into real pH, NTU, °C and level %.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EAF3F6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5" name="Image 3" descr="/home/claude/aquatracker/icons/check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436168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quality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77240" y="53675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classified as Poor / Fair / Good / Excellent, shown on the OLED.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297680" y="416052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EAF3F6"/>
          </a:solidFill>
          <a:ln/>
        </p:spPr>
      </p:sp>
      <p:sp>
        <p:nvSpPr>
          <p:cNvPr id="29" name="Shape 23"/>
          <p:cNvSpPr/>
          <p:nvPr/>
        </p:nvSpPr>
        <p:spPr>
          <a:xfrm>
            <a:off x="4526280" y="4389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4"/>
          <p:cNvSpPr/>
          <p:nvPr/>
        </p:nvSpPr>
        <p:spPr>
          <a:xfrm>
            <a:off x="45262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1" name="Image 4" descr="/home/claude/aquatracker/icons/bell_1C729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436168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2628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check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26280" y="53675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 must repeat for 3 consecutive cycles — filters out one-off noise spikes.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046720" y="416052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EAF3F6"/>
          </a:solidFill>
          <a:ln/>
        </p:spPr>
      </p:sp>
      <p:sp>
        <p:nvSpPr>
          <p:cNvPr id="35" name="Shape 28"/>
          <p:cNvSpPr/>
          <p:nvPr/>
        </p:nvSpPr>
        <p:spPr>
          <a:xfrm>
            <a:off x="8275320" y="4389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6" name="Text 29"/>
          <p:cNvSpPr/>
          <p:nvPr/>
        </p:nvSpPr>
        <p:spPr>
          <a:xfrm>
            <a:off x="82753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37" name="Image 5" descr="/home/claude/aquatracker/icons/sms_1C729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4361688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7532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via SMS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275320" y="53675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module texts the user; a cooldown timer stops repeat spam alerts.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Accuracy: Calibration Formulas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reading is derived from a proper calibration model, not a raw sensor guess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663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2-point buffer calibration: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= slope × (V − V₇) + 7.0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probe to real pH 4/7 buffer solutions for lab-accurate readings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Steinhart-Hart thermistor equation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(NTC physics model)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resistance to temperature with real thermal physics, not a guess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→ NTU polynomial: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NTU = aV² + bV +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sensor's true non-linear response curve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Median-of-5 filter + temperature-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compensated speed of sound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echo noise and adjusts for how temperature affects sound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bands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Contiguous Poor / Fair / Good 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thresholds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5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reading maps cleanly to one clear quality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Alert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firmware to keep readings accurate and alerts trustworthy</a:t>
            </a:r>
            <a:endParaRPr lang="en-US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DDA395E-AF5F-4906-B4F0-A6068EBD1724}"/>
              </a:ext>
            </a:extLst>
          </p:cNvPr>
          <p:cNvGrpSpPr/>
          <p:nvPr/>
        </p:nvGrpSpPr>
        <p:grpSpPr>
          <a:xfrm>
            <a:off x="1216913" y="1468342"/>
            <a:ext cx="9243028" cy="4712540"/>
            <a:chOff x="548640" y="1554480"/>
            <a:chExt cx="11155680" cy="6858000"/>
          </a:xfrm>
        </p:grpSpPr>
        <p:sp>
          <p:nvSpPr>
            <p:cNvPr id="4" name="Shape 2"/>
            <p:cNvSpPr/>
            <p:nvPr/>
          </p:nvSpPr>
          <p:spPr>
            <a:xfrm>
              <a:off x="548640" y="1554480"/>
              <a:ext cx="5349240" cy="2103120"/>
            </a:xfrm>
            <a:prstGeom prst="roundRect">
              <a:avLst>
                <a:gd name="adj" fmla="val 3478"/>
              </a:avLst>
            </a:prstGeom>
            <a:solidFill>
              <a:srgbClr val="EAF3F6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804672" y="1810512"/>
              <a:ext cx="502920" cy="502920"/>
            </a:xfrm>
            <a:prstGeom prst="ellipse">
              <a:avLst/>
            </a:prstGeom>
            <a:solidFill>
              <a:srgbClr val="065A82"/>
            </a:solidFill>
            <a:ln/>
          </p:spPr>
        </p:sp>
        <p:pic>
          <p:nvPicPr>
            <p:cNvPr id="6" name="Image 0" descr="/home/claude/aquatracker/icons/cogs_FFFFF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3544" y="1929384"/>
              <a:ext cx="265176" cy="265176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463040" y="1783080"/>
              <a:ext cx="4251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226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Non-blocking operation</a:t>
              </a:r>
              <a:endParaRPr lang="en-US" sz="14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804672" y="2423160"/>
              <a:ext cx="483717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80" dirty="0">
                  <a:solidFill>
                    <a:srgbClr val="5C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Sensor readings and GSM call handling run on independent timers, so an incoming call is never missed.</a:t>
              </a:r>
              <a:endParaRPr lang="en-US" sz="118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6355080" y="1554480"/>
              <a:ext cx="5349240" cy="2103120"/>
            </a:xfrm>
            <a:prstGeom prst="roundRect">
              <a:avLst>
                <a:gd name="adj" fmla="val 3478"/>
              </a:avLst>
            </a:prstGeom>
            <a:solidFill>
              <a:srgbClr val="EAF3F6"/>
            </a:solidFill>
            <a:ln/>
          </p:spPr>
        </p:sp>
        <p:sp>
          <p:nvSpPr>
            <p:cNvPr id="10" name="Shape 7"/>
            <p:cNvSpPr/>
            <p:nvPr/>
          </p:nvSpPr>
          <p:spPr>
            <a:xfrm>
              <a:off x="6611112" y="1810512"/>
              <a:ext cx="502920" cy="502920"/>
            </a:xfrm>
            <a:prstGeom prst="ellipse">
              <a:avLst/>
            </a:prstGeom>
            <a:solidFill>
              <a:srgbClr val="065A82"/>
            </a:solidFill>
            <a:ln/>
          </p:spPr>
        </p:sp>
        <p:pic>
          <p:nvPicPr>
            <p:cNvPr id="11" name="Image 1" descr="/home/claude/aquatracker/icons/bell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29984" y="1929384"/>
              <a:ext cx="265176" cy="265176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7269480" y="1783080"/>
              <a:ext cx="4251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226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Debounced alerts</a:t>
              </a:r>
              <a:endParaRPr lang="en-US" sz="145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6611112" y="2423160"/>
              <a:ext cx="483717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80" dirty="0">
                  <a:solidFill>
                    <a:srgbClr val="5C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 issue must show up for 3 consecutive readings before triggering an SMS — filters out one-off sensor noise.</a:t>
              </a:r>
              <a:endParaRPr lang="en-US" sz="118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548640" y="3931920"/>
              <a:ext cx="5349240" cy="2103120"/>
            </a:xfrm>
            <a:prstGeom prst="roundRect">
              <a:avLst>
                <a:gd name="adj" fmla="val 3478"/>
              </a:avLst>
            </a:prstGeom>
            <a:solidFill>
              <a:srgbClr val="EAF3F6"/>
            </a:solidFill>
            <a:ln/>
          </p:spPr>
        </p:sp>
        <p:sp>
          <p:nvSpPr>
            <p:cNvPr id="15" name="Shape 11"/>
            <p:cNvSpPr/>
            <p:nvPr/>
          </p:nvSpPr>
          <p:spPr>
            <a:xfrm>
              <a:off x="804672" y="4187952"/>
              <a:ext cx="502920" cy="502920"/>
            </a:xfrm>
            <a:prstGeom prst="ellipse">
              <a:avLst/>
            </a:prstGeom>
            <a:solidFill>
              <a:srgbClr val="065A82"/>
            </a:solidFill>
            <a:ln/>
          </p:spPr>
        </p:sp>
        <p:pic>
          <p:nvPicPr>
            <p:cNvPr id="16" name="Image 2" descr="/home/claude/aquatracker/icons/clock_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544" y="4306824"/>
              <a:ext cx="265176" cy="265176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1463040" y="4160520"/>
              <a:ext cx="4251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226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SMS cooldown timer</a:t>
              </a:r>
              <a:endParaRPr lang="en-US" sz="145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04672" y="4800600"/>
              <a:ext cx="483717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80" dirty="0">
                  <a:solidFill>
                    <a:srgbClr val="5C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15-minute cooldown between alerts prevents the system from repeatedly spamming the same warning.</a:t>
              </a:r>
              <a:endParaRPr lang="en-US" sz="1180" dirty="0"/>
            </a:p>
          </p:txBody>
        </p:sp>
        <p:sp>
          <p:nvSpPr>
            <p:cNvPr id="19" name="Shape 14"/>
            <p:cNvSpPr/>
            <p:nvPr/>
          </p:nvSpPr>
          <p:spPr>
            <a:xfrm>
              <a:off x="6355080" y="3931921"/>
              <a:ext cx="5349240" cy="2103120"/>
            </a:xfrm>
            <a:prstGeom prst="roundRect">
              <a:avLst>
                <a:gd name="adj" fmla="val 3478"/>
              </a:avLst>
            </a:prstGeom>
            <a:solidFill>
              <a:srgbClr val="EAF3F6"/>
            </a:solidFill>
            <a:ln/>
          </p:spPr>
        </p:sp>
        <p:sp>
          <p:nvSpPr>
            <p:cNvPr id="20" name="Shape 15"/>
            <p:cNvSpPr/>
            <p:nvPr/>
          </p:nvSpPr>
          <p:spPr>
            <a:xfrm>
              <a:off x="6611112" y="4187952"/>
              <a:ext cx="502920" cy="502920"/>
            </a:xfrm>
            <a:prstGeom prst="ellipse">
              <a:avLst/>
            </a:prstGeom>
            <a:solidFill>
              <a:srgbClr val="065A82"/>
            </a:solidFill>
            <a:ln/>
          </p:spPr>
        </p:sp>
        <p:pic>
          <p:nvPicPr>
            <p:cNvPr id="21" name="Image 3" descr="/home/claude/aquatracker/icons/battery_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29984" y="4306824"/>
              <a:ext cx="265176" cy="265176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7269480" y="4160520"/>
              <a:ext cx="4251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226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Battery/solar monitoring</a:t>
              </a:r>
              <a:endParaRPr lang="en-US" sz="145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6611112" y="4800600"/>
              <a:ext cx="483717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80" dirty="0">
                  <a:solidFill>
                    <a:srgbClr val="5C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voltage-divider reading on the 12V line means low charge is itself an SMS-worthy alert.</a:t>
              </a:r>
              <a:endParaRPr lang="en-US" sz="1180" dirty="0"/>
            </a:p>
          </p:txBody>
        </p:sp>
        <p:sp>
          <p:nvSpPr>
            <p:cNvPr id="24" name="Shape 18"/>
            <p:cNvSpPr/>
            <p:nvPr/>
          </p:nvSpPr>
          <p:spPr>
            <a:xfrm>
              <a:off x="548640" y="6309360"/>
              <a:ext cx="5349240" cy="2103120"/>
            </a:xfrm>
            <a:prstGeom prst="roundRect">
              <a:avLst>
                <a:gd name="adj" fmla="val 3478"/>
              </a:avLst>
            </a:prstGeom>
            <a:solidFill>
              <a:srgbClr val="EAF3F6"/>
            </a:solidFill>
            <a:ln/>
          </p:spPr>
        </p:sp>
        <p:sp>
          <p:nvSpPr>
            <p:cNvPr id="25" name="Shape 19"/>
            <p:cNvSpPr/>
            <p:nvPr/>
          </p:nvSpPr>
          <p:spPr>
            <a:xfrm>
              <a:off x="804672" y="6565392"/>
              <a:ext cx="502920" cy="502920"/>
            </a:xfrm>
            <a:prstGeom prst="ellipse">
              <a:avLst/>
            </a:prstGeom>
            <a:solidFill>
              <a:srgbClr val="065A82"/>
            </a:solidFill>
            <a:ln/>
          </p:spPr>
        </p:sp>
        <p:pic>
          <p:nvPicPr>
            <p:cNvPr id="26" name="Image 4" descr="/home/claude/aquatracker/icons/chartbar_FFFFFF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3544" y="6684264"/>
              <a:ext cx="265176" cy="265176"/>
            </a:xfrm>
            <a:prstGeom prst="rect">
              <a:avLst/>
            </a:prstGeom>
          </p:spPr>
        </p:pic>
        <p:sp>
          <p:nvSpPr>
            <p:cNvPr id="27" name="Text 20"/>
            <p:cNvSpPr/>
            <p:nvPr/>
          </p:nvSpPr>
          <p:spPr>
            <a:xfrm>
              <a:off x="1463040" y="6537960"/>
              <a:ext cx="4251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226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filtering</a:t>
              </a:r>
              <a:endParaRPr lang="en-US" sz="1450" dirty="0"/>
            </a:p>
          </p:txBody>
        </p:sp>
        <p:sp>
          <p:nvSpPr>
            <p:cNvPr id="28" name="Text 21"/>
            <p:cNvSpPr/>
            <p:nvPr/>
          </p:nvSpPr>
          <p:spPr>
            <a:xfrm>
              <a:off x="804672" y="7178040"/>
              <a:ext cx="483717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80" dirty="0">
                  <a:solidFill>
                    <a:srgbClr val="5C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analog and ultrasonic reading is median-filtered to reject single-sample spikes before it's used.</a:t>
              </a:r>
              <a:endParaRPr lang="en-US" sz="1180" dirty="0"/>
            </a:p>
          </p:txBody>
        </p:sp>
        <p:sp>
          <p:nvSpPr>
            <p:cNvPr id="29" name="Shape 22"/>
            <p:cNvSpPr/>
            <p:nvPr/>
          </p:nvSpPr>
          <p:spPr>
            <a:xfrm>
              <a:off x="6355080" y="6309360"/>
              <a:ext cx="5349240" cy="2103120"/>
            </a:xfrm>
            <a:prstGeom prst="roundRect">
              <a:avLst>
                <a:gd name="adj" fmla="val 3478"/>
              </a:avLst>
            </a:prstGeom>
            <a:solidFill>
              <a:srgbClr val="EAF3F6"/>
            </a:solidFill>
            <a:ln/>
          </p:spPr>
        </p:sp>
        <p:sp>
          <p:nvSpPr>
            <p:cNvPr id="30" name="Shape 23"/>
            <p:cNvSpPr/>
            <p:nvPr/>
          </p:nvSpPr>
          <p:spPr>
            <a:xfrm>
              <a:off x="6611112" y="6565392"/>
              <a:ext cx="502920" cy="502920"/>
            </a:xfrm>
            <a:prstGeom prst="ellipse">
              <a:avLst/>
            </a:prstGeom>
            <a:solidFill>
              <a:srgbClr val="065A82"/>
            </a:solidFill>
            <a:ln/>
          </p:spPr>
        </p:sp>
        <p:pic>
          <p:nvPicPr>
            <p:cNvPr id="31" name="Image 5" descr="/home/claude/aquatracker/icons/check_FFFFFF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29984" y="6684264"/>
              <a:ext cx="265176" cy="265176"/>
            </a:xfrm>
            <a:prstGeom prst="rect">
              <a:avLst/>
            </a:prstGeom>
          </p:spPr>
        </p:pic>
        <p:sp>
          <p:nvSpPr>
            <p:cNvPr id="32" name="Text 24"/>
            <p:cNvSpPr/>
            <p:nvPr/>
          </p:nvSpPr>
          <p:spPr>
            <a:xfrm>
              <a:off x="7269480" y="6537960"/>
              <a:ext cx="4251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50" b="1" dirty="0">
                  <a:solidFill>
                    <a:srgbClr val="1226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 quality classification</a:t>
              </a:r>
              <a:endParaRPr lang="en-US" sz="1450" dirty="0"/>
            </a:p>
          </p:txBody>
        </p:sp>
        <p:sp>
          <p:nvSpPr>
            <p:cNvPr id="33" name="Text 25"/>
            <p:cNvSpPr/>
            <p:nvPr/>
          </p:nvSpPr>
          <p:spPr>
            <a:xfrm>
              <a:off x="6611112" y="7178040"/>
              <a:ext cx="4837176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80" dirty="0">
                  <a:solidFill>
                    <a:srgbClr val="5C7A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Readings map to well-defined Poor / Fair / Good / Excellent bands with no ambiguous overlap.</a:t>
              </a:r>
              <a:endParaRPr lang="en-US" sz="1180" dirty="0"/>
            </a:p>
          </p:txBody>
        </p:sp>
      </p:grpSp>
      <p:sp>
        <p:nvSpPr>
          <p:cNvPr id="37" name="Text 13">
            <a:extLst>
              <a:ext uri="{FF2B5EF4-FFF2-40B4-BE49-F238E27FC236}">
                <a16:creationId xmlns:a16="http://schemas.microsoft.com/office/drawing/2014/main" id="{8BDB1296-92C4-4EFC-962F-ECDA6769B935}"/>
              </a:ext>
            </a:extLst>
          </p:cNvPr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C5B93C4-9E04-480A-B58E-C6A14D387087}"/>
              </a:ext>
            </a:extLst>
          </p:cNvPr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delivers today, and where it can go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Achieved</a:t>
            </a:r>
            <a:endParaRPr lang="en-US" sz="1600" dirty="0"/>
          </a:p>
        </p:txBody>
      </p:sp>
      <p:pic>
        <p:nvPicPr>
          <p:cNvPr id="5" name="Image 0" descr="/home/claude/aquatracker/icons/check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95681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real-world-accurate pH, temperature and turbidity readings</a:t>
            </a:r>
            <a:endParaRPr lang="en-US" sz="1250" dirty="0"/>
          </a:p>
        </p:txBody>
      </p:sp>
      <p:pic>
        <p:nvPicPr>
          <p:cNvPr id="7" name="Image 1" descr="/home/claude/aquatracker/icons/check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73405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SMS alerts thanks to debouncing and cooldown timing</a:t>
            </a:r>
            <a:endParaRPr lang="en-US" sz="1250" dirty="0"/>
          </a:p>
        </p:txBody>
      </p:sp>
      <p:pic>
        <p:nvPicPr>
          <p:cNvPr id="9" name="Image 2" descr="/home/claude/aquatracker/icons/check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351129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solar powered — deployable anywhere with GSM signal</a:t>
            </a:r>
            <a:endParaRPr lang="en-US" sz="1250" dirty="0"/>
          </a:p>
        </p:txBody>
      </p:sp>
      <p:pic>
        <p:nvPicPr>
          <p:cNvPr id="11" name="Image 3" descr="/home/claude/aquatracker/icons/check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43400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4288536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replicable hardware built entirely on Arduino UNO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6309360" y="1600200"/>
            <a:ext cx="0" cy="457200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pic>
        <p:nvPicPr>
          <p:cNvPr id="15" name="Image 4" descr="/home/claude/aquatracker/icons/wrench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1168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95160" y="195681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EEPROM-stored calibration so pH/turbidity constants persist across power cycles</a:t>
            </a:r>
            <a:endParaRPr lang="en-US" sz="1250" dirty="0"/>
          </a:p>
        </p:txBody>
      </p:sp>
      <p:pic>
        <p:nvPicPr>
          <p:cNvPr id="17" name="Image 5" descr="/home/claude/aquatracker/icons/wrench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788920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95160" y="273405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 (via GSM GPRS/NB-IoT) alongside SMS for historical trends</a:t>
            </a:r>
            <a:endParaRPr lang="en-US" sz="1250" dirty="0"/>
          </a:p>
        </p:txBody>
      </p:sp>
      <p:pic>
        <p:nvPicPr>
          <p:cNvPr id="19" name="Image 6" descr="/home/claude/aquatracker/icons/wrench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66160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95160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motor/valve control to shut off inflow once tank reaches capacity</a:t>
            </a:r>
            <a:endParaRPr lang="en-US" sz="1250" dirty="0"/>
          </a:p>
        </p:txBody>
      </p:sp>
      <p:pic>
        <p:nvPicPr>
          <p:cNvPr id="21" name="Image 7" descr="/home/claude/aquatracker/icons/wrench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343400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95160" y="428853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Multi-tank support with a single GSM hub for larger sites</a:t>
            </a:r>
            <a:endParaRPr lang="en-US" sz="1250" dirty="0"/>
          </a:p>
        </p:txBody>
      </p:sp>
      <p:sp>
        <p:nvSpPr>
          <p:cNvPr id="23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</a:t>
            </a:r>
            <a:endParaRPr lang="en-US" sz="1000" dirty="0"/>
          </a:p>
        </p:txBody>
      </p:sp>
      <p:sp>
        <p:nvSpPr>
          <p:cNvPr id="24" name="Text 14"/>
          <p:cNvSpPr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aquatracker/icons/dropl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2148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AquaTracker — Smart, solar-powered, self-alerting water monitoring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1095</Words>
  <Application>Microsoft Office PowerPoint</Application>
  <PresentationFormat>Widescreen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R</cp:lastModifiedBy>
  <cp:revision>2</cp:revision>
  <dcterms:created xsi:type="dcterms:W3CDTF">2026-07-18T14:09:07Z</dcterms:created>
  <dcterms:modified xsi:type="dcterms:W3CDTF">2026-07-18T14:25:24Z</dcterms:modified>
</cp:coreProperties>
</file>