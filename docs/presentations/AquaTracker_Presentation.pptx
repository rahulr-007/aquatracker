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02" r:id="rId1"/>
  </p:sldMasterIdLst>
  <p:notesMasterIdLst>
    <p:notesMasterId r:id="rId14"/>
  </p:notesMasterIdLst>
  <p:sldIdLst>
    <p:sldId id="268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12192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85" d="100"/>
          <a:sy n="85" d="100"/>
        </p:scale>
        <p:origin x="562" y="5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863558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7/18/2026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8627597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7/18/2026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97913805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7/18/2026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57525100"/>
      </p:ext>
    </p:extLst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7/18/2026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13172986"/>
      </p:ext>
    </p:extLst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7/18/2026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44095156"/>
      </p:ext>
    </p:extLst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7/18/2026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77098422"/>
      </p:ext>
    </p:extLst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7/18/2026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20367496"/>
      </p:ext>
    </p:extLst>
  </p:cSld>
  <p:clrMapOvr>
    <a:masterClrMapping/>
  </p:clrMapOvr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7/18/2026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85846880"/>
      </p:ext>
    </p:extLst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7/18/2026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42661026"/>
      </p:ext>
    </p:extLst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7/18/2026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17509227"/>
      </p:ext>
    </p:extLst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7/18/2026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43172402"/>
      </p:ext>
    </p:extLst>
  </p:cSld>
  <p:clrMapOvr>
    <a:masterClrMapping/>
  </p:clrMapOvr>
  <p:hf sldNum="0"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7085481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smtClean="0"/>
              <a:t>7/18/2026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237147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3" r:id="rId1"/>
    <p:sldLayoutId id="2147483704" r:id="rId2"/>
    <p:sldLayoutId id="2147483705" r:id="rId3"/>
    <p:sldLayoutId id="2147483706" r:id="rId4"/>
    <p:sldLayoutId id="2147483707" r:id="rId5"/>
    <p:sldLayoutId id="2147483708" r:id="rId6"/>
    <p:sldLayoutId id="2147483709" r:id="rId7"/>
    <p:sldLayoutId id="2147483710" r:id="rId8"/>
    <p:sldLayoutId id="2147483711" r:id="rId9"/>
    <p:sldLayoutId id="2147483712" r:id="rId10"/>
    <p:sldLayoutId id="2147483713" r:id="rId11"/>
    <p:sldLayoutId id="2147483714" r:id="rId12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3" Type="http://schemas.openxmlformats.org/officeDocument/2006/relationships/image" Target="../media/image16.png"/><Relationship Id="rId7" Type="http://schemas.openxmlformats.org/officeDocument/2006/relationships/image" Target="../media/image2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5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5728EFD2-7A41-45BE-A5F0-BD60083A6A24}"/>
              </a:ext>
            </a:extLst>
          </p:cNvPr>
          <p:cNvSpPr/>
          <p:nvPr/>
        </p:nvSpPr>
        <p:spPr>
          <a:xfrm>
            <a:off x="336000" y="279000"/>
            <a:ext cx="11520000" cy="6300000"/>
          </a:xfrm>
          <a:prstGeom prst="roundRect">
            <a:avLst>
              <a:gd name="adj" fmla="val 14532"/>
            </a:avLst>
          </a:prstGeom>
          <a:noFill/>
          <a:ln w="76200"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 dirty="0">
              <a:solidFill>
                <a:schemeClr val="tx1"/>
              </a:solidFill>
              <a:latin typeface="Aptos Black" panose="020F0502020204030204" pitchFamily="34" charset="0"/>
              <a:ea typeface="Arimo" panose="020B0604020202020204" charset="0"/>
              <a:cs typeface="Times New Roman" panose="02020603050405020304" pitchFamily="18" charset="0"/>
            </a:endParaRPr>
          </a:p>
          <a:p>
            <a:pPr algn="ctr"/>
            <a:endParaRPr lang="en-US" sz="2800" dirty="0">
              <a:solidFill>
                <a:schemeClr val="tx1"/>
              </a:solidFill>
              <a:latin typeface="Aptos Black" panose="020F0502020204030204" pitchFamily="34" charset="0"/>
              <a:cs typeface="Times New Roman" panose="02020603050405020304" pitchFamily="18" charset="0"/>
            </a:endParaRPr>
          </a:p>
          <a:p>
            <a:pPr algn="ctr"/>
            <a:endParaRPr lang="en-IN" sz="2800" dirty="0">
              <a:solidFill>
                <a:schemeClr val="tx1"/>
              </a:solidFill>
              <a:latin typeface="Aptos Black" panose="020F0502020204030204" pitchFamily="34" charset="0"/>
            </a:endParaRP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68C80FE7-CC94-4CCF-B5DF-47B6C38D29B8}"/>
              </a:ext>
            </a:extLst>
          </p:cNvPr>
          <p:cNvGrpSpPr/>
          <p:nvPr/>
        </p:nvGrpSpPr>
        <p:grpSpPr>
          <a:xfrm>
            <a:off x="858417" y="1503198"/>
            <a:ext cx="5709958" cy="3851601"/>
            <a:chOff x="107880" y="774438"/>
            <a:chExt cx="5709958" cy="3851601"/>
          </a:xfrm>
          <a:solidFill>
            <a:schemeClr val="bg1"/>
          </a:solidFill>
        </p:grpSpPr>
        <p:pic>
          <p:nvPicPr>
            <p:cNvPr id="5" name="Picture 2" descr="Water | Definition, Chemical Formula, Structure, Molecule, &amp; Facts |  Britannica">
              <a:extLst>
                <a:ext uri="{FF2B5EF4-FFF2-40B4-BE49-F238E27FC236}">
                  <a16:creationId xmlns:a16="http://schemas.microsoft.com/office/drawing/2014/main" id="{2BDBB266-339C-4BEA-ACE8-897BBECB9BE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86218" y="797765"/>
              <a:ext cx="5631619" cy="3755572"/>
            </a:xfrm>
            <a:prstGeom prst="rect">
              <a:avLst/>
            </a:prstGeom>
            <a:grp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6BFC5672-3A59-4C1A-9EC8-2599A92DF797}"/>
                </a:ext>
              </a:extLst>
            </p:cNvPr>
            <p:cNvSpPr/>
            <p:nvPr/>
          </p:nvSpPr>
          <p:spPr>
            <a:xfrm>
              <a:off x="107880" y="774438"/>
              <a:ext cx="5709958" cy="3851601"/>
            </a:xfrm>
            <a:custGeom>
              <a:avLst/>
              <a:gdLst/>
              <a:ahLst/>
              <a:cxnLst/>
              <a:rect l="l" t="t" r="r" b="b"/>
              <a:pathLst>
                <a:path w="5663682" h="3778898">
                  <a:moveTo>
                    <a:pt x="2002820" y="2353122"/>
                  </a:moveTo>
                  <a:lnTo>
                    <a:pt x="2008262" y="2353122"/>
                  </a:lnTo>
                  <a:cubicBezTo>
                    <a:pt x="2011164" y="2380329"/>
                    <a:pt x="2016424" y="2409532"/>
                    <a:pt x="2024042" y="2440730"/>
                  </a:cubicBezTo>
                  <a:lnTo>
                    <a:pt x="2078457" y="2652950"/>
                  </a:lnTo>
                  <a:lnTo>
                    <a:pt x="1929359" y="2652950"/>
                  </a:lnTo>
                  <a:cubicBezTo>
                    <a:pt x="1968901" y="2501675"/>
                    <a:pt x="1990849" y="2416062"/>
                    <a:pt x="1995202" y="2396110"/>
                  </a:cubicBezTo>
                  <a:cubicBezTo>
                    <a:pt x="1999555" y="2376158"/>
                    <a:pt x="2002095" y="2361828"/>
                    <a:pt x="2002820" y="2353122"/>
                  </a:cubicBezTo>
                  <a:close/>
                  <a:moveTo>
                    <a:pt x="4835852" y="2346048"/>
                  </a:moveTo>
                  <a:lnTo>
                    <a:pt x="4884281" y="2346048"/>
                  </a:lnTo>
                  <a:cubicBezTo>
                    <a:pt x="4918381" y="2346048"/>
                    <a:pt x="4943412" y="2353666"/>
                    <a:pt x="4959374" y="2368902"/>
                  </a:cubicBezTo>
                  <a:cubicBezTo>
                    <a:pt x="4975336" y="2384138"/>
                    <a:pt x="4983317" y="2404816"/>
                    <a:pt x="4983317" y="2430936"/>
                  </a:cubicBezTo>
                  <a:cubicBezTo>
                    <a:pt x="4983317" y="2457780"/>
                    <a:pt x="4973704" y="2480091"/>
                    <a:pt x="4954477" y="2497866"/>
                  </a:cubicBezTo>
                  <a:cubicBezTo>
                    <a:pt x="4935250" y="2515642"/>
                    <a:pt x="4909856" y="2524530"/>
                    <a:pt x="4878296" y="2524530"/>
                  </a:cubicBezTo>
                  <a:lnTo>
                    <a:pt x="4835852" y="2524530"/>
                  </a:lnTo>
                  <a:close/>
                  <a:moveTo>
                    <a:pt x="1140152" y="2346048"/>
                  </a:moveTo>
                  <a:lnTo>
                    <a:pt x="1188581" y="2346048"/>
                  </a:lnTo>
                  <a:cubicBezTo>
                    <a:pt x="1222682" y="2346048"/>
                    <a:pt x="1247713" y="2353666"/>
                    <a:pt x="1263675" y="2368902"/>
                  </a:cubicBezTo>
                  <a:cubicBezTo>
                    <a:pt x="1279637" y="2384138"/>
                    <a:pt x="1287617" y="2404816"/>
                    <a:pt x="1287617" y="2430936"/>
                  </a:cubicBezTo>
                  <a:cubicBezTo>
                    <a:pt x="1287617" y="2457780"/>
                    <a:pt x="1278004" y="2480091"/>
                    <a:pt x="1258777" y="2497866"/>
                  </a:cubicBezTo>
                  <a:cubicBezTo>
                    <a:pt x="1239550" y="2515642"/>
                    <a:pt x="1214156" y="2524530"/>
                    <a:pt x="1182596" y="2524530"/>
                  </a:cubicBezTo>
                  <a:lnTo>
                    <a:pt x="1140152" y="2524530"/>
                  </a:lnTo>
                  <a:close/>
                  <a:moveTo>
                    <a:pt x="4600778" y="2183346"/>
                  </a:moveTo>
                  <a:lnTo>
                    <a:pt x="4600778" y="2963661"/>
                  </a:lnTo>
                  <a:lnTo>
                    <a:pt x="4835852" y="2963661"/>
                  </a:lnTo>
                  <a:lnTo>
                    <a:pt x="4835852" y="2689408"/>
                  </a:lnTo>
                  <a:lnTo>
                    <a:pt x="4845102" y="2689408"/>
                  </a:lnTo>
                  <a:cubicBezTo>
                    <a:pt x="4866143" y="2689408"/>
                    <a:pt x="4885642" y="2698840"/>
                    <a:pt x="4903599" y="2717704"/>
                  </a:cubicBezTo>
                  <a:cubicBezTo>
                    <a:pt x="4921556" y="2736568"/>
                    <a:pt x="4936157" y="2762506"/>
                    <a:pt x="4947403" y="2795518"/>
                  </a:cubicBezTo>
                  <a:lnTo>
                    <a:pt x="5005627" y="2963661"/>
                  </a:lnTo>
                  <a:lnTo>
                    <a:pt x="5270630" y="2963661"/>
                  </a:lnTo>
                  <a:lnTo>
                    <a:pt x="5193904" y="2765045"/>
                  </a:lnTo>
                  <a:cubicBezTo>
                    <a:pt x="5176491" y="2720062"/>
                    <a:pt x="5156811" y="2686143"/>
                    <a:pt x="5134864" y="2663289"/>
                  </a:cubicBezTo>
                  <a:cubicBezTo>
                    <a:pt x="5112916" y="2640434"/>
                    <a:pt x="5085436" y="2623928"/>
                    <a:pt x="5052424" y="2613771"/>
                  </a:cubicBezTo>
                  <a:lnTo>
                    <a:pt x="5052424" y="2611594"/>
                  </a:lnTo>
                  <a:cubicBezTo>
                    <a:pt x="5112281" y="2595270"/>
                    <a:pt x="5157355" y="2568969"/>
                    <a:pt x="5187646" y="2532692"/>
                  </a:cubicBezTo>
                  <a:cubicBezTo>
                    <a:pt x="5217938" y="2496415"/>
                    <a:pt x="5233083" y="2451432"/>
                    <a:pt x="5233083" y="2397742"/>
                  </a:cubicBezTo>
                  <a:cubicBezTo>
                    <a:pt x="5233083" y="2326277"/>
                    <a:pt x="5207055" y="2272678"/>
                    <a:pt x="5154997" y="2236945"/>
                  </a:cubicBezTo>
                  <a:cubicBezTo>
                    <a:pt x="5102940" y="2201212"/>
                    <a:pt x="5022315" y="2183346"/>
                    <a:pt x="4913121" y="2183346"/>
                  </a:cubicBezTo>
                  <a:close/>
                  <a:moveTo>
                    <a:pt x="3981653" y="2183346"/>
                  </a:moveTo>
                  <a:lnTo>
                    <a:pt x="3981653" y="2963661"/>
                  </a:lnTo>
                  <a:lnTo>
                    <a:pt x="4485538" y="2963661"/>
                  </a:lnTo>
                  <a:lnTo>
                    <a:pt x="4485538" y="2779737"/>
                  </a:lnTo>
                  <a:lnTo>
                    <a:pt x="4216727" y="2779737"/>
                  </a:lnTo>
                  <a:lnTo>
                    <a:pt x="4216727" y="2664921"/>
                  </a:lnTo>
                  <a:lnTo>
                    <a:pt x="4452345" y="2664921"/>
                  </a:lnTo>
                  <a:lnTo>
                    <a:pt x="4452345" y="2480998"/>
                  </a:lnTo>
                  <a:lnTo>
                    <a:pt x="4216727" y="2480998"/>
                  </a:lnTo>
                  <a:lnTo>
                    <a:pt x="4216727" y="2367270"/>
                  </a:lnTo>
                  <a:lnTo>
                    <a:pt x="4467581" y="2367270"/>
                  </a:lnTo>
                  <a:lnTo>
                    <a:pt x="4467581" y="2183346"/>
                  </a:lnTo>
                  <a:close/>
                  <a:moveTo>
                    <a:pt x="3210128" y="2183346"/>
                  </a:moveTo>
                  <a:lnTo>
                    <a:pt x="3210128" y="2963661"/>
                  </a:lnTo>
                  <a:lnTo>
                    <a:pt x="3445202" y="2963661"/>
                  </a:lnTo>
                  <a:lnTo>
                    <a:pt x="3445202" y="2580033"/>
                  </a:lnTo>
                  <a:lnTo>
                    <a:pt x="3447923" y="2580033"/>
                  </a:lnTo>
                  <a:cubicBezTo>
                    <a:pt x="3450099" y="2589828"/>
                    <a:pt x="3456992" y="2607785"/>
                    <a:pt x="3468600" y="2633905"/>
                  </a:cubicBezTo>
                  <a:lnTo>
                    <a:pt x="3641641" y="2963661"/>
                  </a:lnTo>
                  <a:lnTo>
                    <a:pt x="3926777" y="2963661"/>
                  </a:lnTo>
                  <a:lnTo>
                    <a:pt x="3684085" y="2555547"/>
                  </a:lnTo>
                  <a:lnTo>
                    <a:pt x="3905555" y="2183346"/>
                  </a:lnTo>
                  <a:lnTo>
                    <a:pt x="3626949" y="2183346"/>
                  </a:lnTo>
                  <a:lnTo>
                    <a:pt x="3471321" y="2500043"/>
                  </a:lnTo>
                  <a:cubicBezTo>
                    <a:pt x="3462615" y="2516730"/>
                    <a:pt x="3454815" y="2534869"/>
                    <a:pt x="3447923" y="2554458"/>
                  </a:cubicBezTo>
                  <a:lnTo>
                    <a:pt x="3445202" y="2554458"/>
                  </a:lnTo>
                  <a:lnTo>
                    <a:pt x="3445202" y="2183346"/>
                  </a:lnTo>
                  <a:close/>
                  <a:moveTo>
                    <a:pt x="1866782" y="2183346"/>
                  </a:moveTo>
                  <a:lnTo>
                    <a:pt x="1597970" y="2963661"/>
                  </a:lnTo>
                  <a:lnTo>
                    <a:pt x="1852090" y="2963661"/>
                  </a:lnTo>
                  <a:lnTo>
                    <a:pt x="1889092" y="2820005"/>
                  </a:lnTo>
                  <a:lnTo>
                    <a:pt x="2121990" y="2820005"/>
                  </a:lnTo>
                  <a:lnTo>
                    <a:pt x="2156271" y="2963661"/>
                  </a:lnTo>
                  <a:lnTo>
                    <a:pt x="2411479" y="2963661"/>
                  </a:lnTo>
                  <a:lnTo>
                    <a:pt x="2158448" y="2183346"/>
                  </a:lnTo>
                  <a:close/>
                  <a:moveTo>
                    <a:pt x="905078" y="2183346"/>
                  </a:moveTo>
                  <a:lnTo>
                    <a:pt x="905078" y="2963661"/>
                  </a:lnTo>
                  <a:lnTo>
                    <a:pt x="1140152" y="2963661"/>
                  </a:lnTo>
                  <a:lnTo>
                    <a:pt x="1140152" y="2689408"/>
                  </a:lnTo>
                  <a:lnTo>
                    <a:pt x="1149402" y="2689408"/>
                  </a:lnTo>
                  <a:cubicBezTo>
                    <a:pt x="1170443" y="2689408"/>
                    <a:pt x="1189942" y="2698840"/>
                    <a:pt x="1207899" y="2717704"/>
                  </a:cubicBezTo>
                  <a:cubicBezTo>
                    <a:pt x="1225856" y="2736568"/>
                    <a:pt x="1240457" y="2762506"/>
                    <a:pt x="1251703" y="2795518"/>
                  </a:cubicBezTo>
                  <a:lnTo>
                    <a:pt x="1309928" y="2963661"/>
                  </a:lnTo>
                  <a:lnTo>
                    <a:pt x="1574930" y="2963661"/>
                  </a:lnTo>
                  <a:lnTo>
                    <a:pt x="1498205" y="2765045"/>
                  </a:lnTo>
                  <a:cubicBezTo>
                    <a:pt x="1480792" y="2720062"/>
                    <a:pt x="1461111" y="2686143"/>
                    <a:pt x="1439164" y="2663289"/>
                  </a:cubicBezTo>
                  <a:cubicBezTo>
                    <a:pt x="1417216" y="2640434"/>
                    <a:pt x="1389737" y="2623928"/>
                    <a:pt x="1356725" y="2613771"/>
                  </a:cubicBezTo>
                  <a:lnTo>
                    <a:pt x="1356725" y="2611594"/>
                  </a:lnTo>
                  <a:cubicBezTo>
                    <a:pt x="1416582" y="2595270"/>
                    <a:pt x="1461655" y="2568969"/>
                    <a:pt x="1491947" y="2532692"/>
                  </a:cubicBezTo>
                  <a:cubicBezTo>
                    <a:pt x="1522238" y="2496415"/>
                    <a:pt x="1537384" y="2451432"/>
                    <a:pt x="1537384" y="2397742"/>
                  </a:cubicBezTo>
                  <a:cubicBezTo>
                    <a:pt x="1537384" y="2326277"/>
                    <a:pt x="1511355" y="2272678"/>
                    <a:pt x="1459298" y="2236945"/>
                  </a:cubicBezTo>
                  <a:cubicBezTo>
                    <a:pt x="1407240" y="2201212"/>
                    <a:pt x="1326615" y="2183346"/>
                    <a:pt x="1217422" y="2183346"/>
                  </a:cubicBezTo>
                  <a:close/>
                  <a:moveTo>
                    <a:pt x="140371" y="2183346"/>
                  </a:moveTo>
                  <a:lnTo>
                    <a:pt x="140371" y="2367270"/>
                  </a:lnTo>
                  <a:lnTo>
                    <a:pt x="358576" y="2367270"/>
                  </a:lnTo>
                  <a:lnTo>
                    <a:pt x="358576" y="2963661"/>
                  </a:lnTo>
                  <a:lnTo>
                    <a:pt x="594739" y="2963661"/>
                  </a:lnTo>
                  <a:lnTo>
                    <a:pt x="594739" y="2367270"/>
                  </a:lnTo>
                  <a:lnTo>
                    <a:pt x="815665" y="2367270"/>
                  </a:lnTo>
                  <a:lnTo>
                    <a:pt x="815665" y="2183346"/>
                  </a:lnTo>
                  <a:close/>
                  <a:moveTo>
                    <a:pt x="2889994" y="2170286"/>
                  </a:moveTo>
                  <a:cubicBezTo>
                    <a:pt x="2805469" y="2170286"/>
                    <a:pt x="2730738" y="2187790"/>
                    <a:pt x="2665803" y="2222797"/>
                  </a:cubicBezTo>
                  <a:cubicBezTo>
                    <a:pt x="2600867" y="2257804"/>
                    <a:pt x="2550624" y="2307413"/>
                    <a:pt x="2515072" y="2371623"/>
                  </a:cubicBezTo>
                  <a:cubicBezTo>
                    <a:pt x="2479521" y="2435833"/>
                    <a:pt x="2461746" y="2509112"/>
                    <a:pt x="2461746" y="2591461"/>
                  </a:cubicBezTo>
                  <a:cubicBezTo>
                    <a:pt x="2461746" y="2668005"/>
                    <a:pt x="2477617" y="2735570"/>
                    <a:pt x="2509359" y="2794158"/>
                  </a:cubicBezTo>
                  <a:cubicBezTo>
                    <a:pt x="2541101" y="2852745"/>
                    <a:pt x="2587082" y="2897909"/>
                    <a:pt x="2647302" y="2929651"/>
                  </a:cubicBezTo>
                  <a:cubicBezTo>
                    <a:pt x="2707521" y="2961394"/>
                    <a:pt x="2779168" y="2977265"/>
                    <a:pt x="2862242" y="2977265"/>
                  </a:cubicBezTo>
                  <a:cubicBezTo>
                    <a:pt x="2946767" y="2977265"/>
                    <a:pt x="3021316" y="2965656"/>
                    <a:pt x="3085889" y="2942439"/>
                  </a:cubicBezTo>
                  <a:lnTo>
                    <a:pt x="3085889" y="2732940"/>
                  </a:lnTo>
                  <a:cubicBezTo>
                    <a:pt x="3027846" y="2761962"/>
                    <a:pt x="2970347" y="2776473"/>
                    <a:pt x="2913392" y="2776473"/>
                  </a:cubicBezTo>
                  <a:cubicBezTo>
                    <a:pt x="2851722" y="2776473"/>
                    <a:pt x="2802476" y="2758425"/>
                    <a:pt x="2765655" y="2722329"/>
                  </a:cubicBezTo>
                  <a:cubicBezTo>
                    <a:pt x="2728834" y="2686234"/>
                    <a:pt x="2710423" y="2636988"/>
                    <a:pt x="2710423" y="2574592"/>
                  </a:cubicBezTo>
                  <a:cubicBezTo>
                    <a:pt x="2710423" y="2511833"/>
                    <a:pt x="2728834" y="2462134"/>
                    <a:pt x="2765655" y="2425494"/>
                  </a:cubicBezTo>
                  <a:cubicBezTo>
                    <a:pt x="2802476" y="2388854"/>
                    <a:pt x="2852810" y="2370535"/>
                    <a:pt x="2916657" y="2370535"/>
                  </a:cubicBezTo>
                  <a:cubicBezTo>
                    <a:pt x="2947493" y="2370535"/>
                    <a:pt x="2977965" y="2374162"/>
                    <a:pt x="3008075" y="2381418"/>
                  </a:cubicBezTo>
                  <a:cubicBezTo>
                    <a:pt x="3038185" y="2388673"/>
                    <a:pt x="3064123" y="2398831"/>
                    <a:pt x="3085889" y="2411890"/>
                  </a:cubicBezTo>
                  <a:lnTo>
                    <a:pt x="3085889" y="2194773"/>
                  </a:lnTo>
                  <a:cubicBezTo>
                    <a:pt x="3022767" y="2178449"/>
                    <a:pt x="2957469" y="2170286"/>
                    <a:pt x="2889994" y="2170286"/>
                  </a:cubicBezTo>
                  <a:close/>
                  <a:moveTo>
                    <a:pt x="1393216" y="1027510"/>
                  </a:moveTo>
                  <a:cubicBezTo>
                    <a:pt x="1436022" y="1027510"/>
                    <a:pt x="1469760" y="1046011"/>
                    <a:pt x="1494428" y="1083013"/>
                  </a:cubicBezTo>
                  <a:cubicBezTo>
                    <a:pt x="1519096" y="1120016"/>
                    <a:pt x="1531430" y="1170622"/>
                    <a:pt x="1531430" y="1234832"/>
                  </a:cubicBezTo>
                  <a:cubicBezTo>
                    <a:pt x="1531430" y="1295414"/>
                    <a:pt x="1518371" y="1343662"/>
                    <a:pt x="1492251" y="1379576"/>
                  </a:cubicBezTo>
                  <a:cubicBezTo>
                    <a:pt x="1466132" y="1415491"/>
                    <a:pt x="1431850" y="1433448"/>
                    <a:pt x="1389406" y="1433448"/>
                  </a:cubicBezTo>
                  <a:cubicBezTo>
                    <a:pt x="1344786" y="1433448"/>
                    <a:pt x="1309507" y="1415672"/>
                    <a:pt x="1283569" y="1380121"/>
                  </a:cubicBezTo>
                  <a:cubicBezTo>
                    <a:pt x="1257631" y="1344569"/>
                    <a:pt x="1244662" y="1295051"/>
                    <a:pt x="1244662" y="1231567"/>
                  </a:cubicBezTo>
                  <a:cubicBezTo>
                    <a:pt x="1244662" y="1166631"/>
                    <a:pt x="1257721" y="1116388"/>
                    <a:pt x="1283841" y="1080837"/>
                  </a:cubicBezTo>
                  <a:cubicBezTo>
                    <a:pt x="1309960" y="1045285"/>
                    <a:pt x="1346418" y="1027510"/>
                    <a:pt x="1393216" y="1027510"/>
                  </a:cubicBezTo>
                  <a:close/>
                  <a:moveTo>
                    <a:pt x="3060095" y="1010097"/>
                  </a:moveTo>
                  <a:lnTo>
                    <a:pt x="3065537" y="1010097"/>
                  </a:lnTo>
                  <a:cubicBezTo>
                    <a:pt x="3068439" y="1037304"/>
                    <a:pt x="3073699" y="1066507"/>
                    <a:pt x="3081317" y="1097705"/>
                  </a:cubicBezTo>
                  <a:lnTo>
                    <a:pt x="3135732" y="1309925"/>
                  </a:lnTo>
                  <a:lnTo>
                    <a:pt x="2986634" y="1309925"/>
                  </a:lnTo>
                  <a:cubicBezTo>
                    <a:pt x="3026176" y="1158650"/>
                    <a:pt x="3048124" y="1073037"/>
                    <a:pt x="3052477" y="1053085"/>
                  </a:cubicBezTo>
                  <a:cubicBezTo>
                    <a:pt x="3056830" y="1033133"/>
                    <a:pt x="3059369" y="1018803"/>
                    <a:pt x="3060095" y="1010097"/>
                  </a:cubicBezTo>
                  <a:close/>
                  <a:moveTo>
                    <a:pt x="535970" y="1010097"/>
                  </a:moveTo>
                  <a:lnTo>
                    <a:pt x="541412" y="1010097"/>
                  </a:lnTo>
                  <a:cubicBezTo>
                    <a:pt x="544314" y="1037304"/>
                    <a:pt x="549574" y="1066507"/>
                    <a:pt x="557192" y="1097705"/>
                  </a:cubicBezTo>
                  <a:lnTo>
                    <a:pt x="611607" y="1309925"/>
                  </a:lnTo>
                  <a:lnTo>
                    <a:pt x="462509" y="1309925"/>
                  </a:lnTo>
                  <a:cubicBezTo>
                    <a:pt x="502051" y="1158650"/>
                    <a:pt x="523999" y="1073037"/>
                    <a:pt x="528352" y="1053085"/>
                  </a:cubicBezTo>
                  <a:cubicBezTo>
                    <a:pt x="532705" y="1033133"/>
                    <a:pt x="535245" y="1018803"/>
                    <a:pt x="535970" y="1010097"/>
                  </a:cubicBezTo>
                  <a:close/>
                  <a:moveTo>
                    <a:pt x="2924057" y="840321"/>
                  </a:moveTo>
                  <a:lnTo>
                    <a:pt x="2655245" y="1620636"/>
                  </a:lnTo>
                  <a:lnTo>
                    <a:pt x="2909365" y="1620636"/>
                  </a:lnTo>
                  <a:lnTo>
                    <a:pt x="2946367" y="1476980"/>
                  </a:lnTo>
                  <a:lnTo>
                    <a:pt x="3179265" y="1476980"/>
                  </a:lnTo>
                  <a:lnTo>
                    <a:pt x="3213546" y="1620636"/>
                  </a:lnTo>
                  <a:lnTo>
                    <a:pt x="3468754" y="1620636"/>
                  </a:lnTo>
                  <a:lnTo>
                    <a:pt x="3215723" y="840321"/>
                  </a:lnTo>
                  <a:close/>
                  <a:moveTo>
                    <a:pt x="1886971" y="840321"/>
                  </a:moveTo>
                  <a:lnTo>
                    <a:pt x="1886971" y="1268569"/>
                  </a:lnTo>
                  <a:cubicBezTo>
                    <a:pt x="1886971" y="1390822"/>
                    <a:pt x="1915721" y="1482331"/>
                    <a:pt x="1973220" y="1543094"/>
                  </a:cubicBezTo>
                  <a:cubicBezTo>
                    <a:pt x="2030718" y="1603858"/>
                    <a:pt x="2114971" y="1634240"/>
                    <a:pt x="2225979" y="1634240"/>
                  </a:cubicBezTo>
                  <a:cubicBezTo>
                    <a:pt x="2344967" y="1634240"/>
                    <a:pt x="2433029" y="1603858"/>
                    <a:pt x="2490165" y="1543094"/>
                  </a:cubicBezTo>
                  <a:cubicBezTo>
                    <a:pt x="2547301" y="1482331"/>
                    <a:pt x="2575869" y="1389371"/>
                    <a:pt x="2575869" y="1264216"/>
                  </a:cubicBezTo>
                  <a:lnTo>
                    <a:pt x="2575869" y="840321"/>
                  </a:lnTo>
                  <a:lnTo>
                    <a:pt x="2339162" y="840321"/>
                  </a:lnTo>
                  <a:lnTo>
                    <a:pt x="2339162" y="1282717"/>
                  </a:lnTo>
                  <a:cubicBezTo>
                    <a:pt x="2339162" y="1332416"/>
                    <a:pt x="2330003" y="1369963"/>
                    <a:pt x="2311683" y="1395357"/>
                  </a:cubicBezTo>
                  <a:cubicBezTo>
                    <a:pt x="2293363" y="1420751"/>
                    <a:pt x="2266609" y="1433448"/>
                    <a:pt x="2231420" y="1433448"/>
                  </a:cubicBezTo>
                  <a:cubicBezTo>
                    <a:pt x="2196594" y="1433448"/>
                    <a:pt x="2169840" y="1419934"/>
                    <a:pt x="2151157" y="1392908"/>
                  </a:cubicBezTo>
                  <a:cubicBezTo>
                    <a:pt x="2132475" y="1365882"/>
                    <a:pt x="2123134" y="1327338"/>
                    <a:pt x="2123134" y="1277276"/>
                  </a:cubicBezTo>
                  <a:lnTo>
                    <a:pt x="2123134" y="840321"/>
                  </a:lnTo>
                  <a:close/>
                  <a:moveTo>
                    <a:pt x="399932" y="840321"/>
                  </a:moveTo>
                  <a:lnTo>
                    <a:pt x="131120" y="1620636"/>
                  </a:lnTo>
                  <a:lnTo>
                    <a:pt x="385240" y="1620636"/>
                  </a:lnTo>
                  <a:lnTo>
                    <a:pt x="422242" y="1476980"/>
                  </a:lnTo>
                  <a:lnTo>
                    <a:pt x="655140" y="1476980"/>
                  </a:lnTo>
                  <a:lnTo>
                    <a:pt x="689421" y="1620636"/>
                  </a:lnTo>
                  <a:lnTo>
                    <a:pt x="944629" y="1620636"/>
                  </a:lnTo>
                  <a:lnTo>
                    <a:pt x="691598" y="840321"/>
                  </a:lnTo>
                  <a:close/>
                  <a:moveTo>
                    <a:pt x="1395392" y="827261"/>
                  </a:moveTo>
                  <a:cubicBezTo>
                    <a:pt x="1317760" y="827261"/>
                    <a:pt x="1248471" y="844584"/>
                    <a:pt x="1187526" y="879228"/>
                  </a:cubicBezTo>
                  <a:cubicBezTo>
                    <a:pt x="1126581" y="913872"/>
                    <a:pt x="1079239" y="962937"/>
                    <a:pt x="1045502" y="1026421"/>
                  </a:cubicBezTo>
                  <a:cubicBezTo>
                    <a:pt x="1011764" y="1089906"/>
                    <a:pt x="994896" y="1161371"/>
                    <a:pt x="994896" y="1240818"/>
                  </a:cubicBezTo>
                  <a:cubicBezTo>
                    <a:pt x="994896" y="1316636"/>
                    <a:pt x="1011583" y="1384565"/>
                    <a:pt x="1044958" y="1444603"/>
                  </a:cubicBezTo>
                  <a:cubicBezTo>
                    <a:pt x="1078332" y="1504641"/>
                    <a:pt x="1125039" y="1551257"/>
                    <a:pt x="1185077" y="1584450"/>
                  </a:cubicBezTo>
                  <a:cubicBezTo>
                    <a:pt x="1245115" y="1617643"/>
                    <a:pt x="1311774" y="1634240"/>
                    <a:pt x="1385053" y="1634240"/>
                  </a:cubicBezTo>
                  <a:cubicBezTo>
                    <a:pt x="1416614" y="1634240"/>
                    <a:pt x="1446905" y="1631157"/>
                    <a:pt x="1475927" y="1624989"/>
                  </a:cubicBezTo>
                  <a:lnTo>
                    <a:pt x="1574962" y="1725658"/>
                  </a:lnTo>
                  <a:lnTo>
                    <a:pt x="1869893" y="1725658"/>
                  </a:lnTo>
                  <a:lnTo>
                    <a:pt x="1663660" y="1526498"/>
                  </a:lnTo>
                  <a:cubicBezTo>
                    <a:pt x="1741655" y="1448503"/>
                    <a:pt x="1780652" y="1349104"/>
                    <a:pt x="1780652" y="1228302"/>
                  </a:cubicBezTo>
                  <a:cubicBezTo>
                    <a:pt x="1780652" y="1150307"/>
                    <a:pt x="1764600" y="1080564"/>
                    <a:pt x="1732495" y="1019075"/>
                  </a:cubicBezTo>
                  <a:cubicBezTo>
                    <a:pt x="1700390" y="957586"/>
                    <a:pt x="1654862" y="910245"/>
                    <a:pt x="1595912" y="877051"/>
                  </a:cubicBezTo>
                  <a:cubicBezTo>
                    <a:pt x="1536962" y="843858"/>
                    <a:pt x="1470123" y="827261"/>
                    <a:pt x="1395392" y="827261"/>
                  </a:cubicBezTo>
                  <a:close/>
                  <a:moveTo>
                    <a:pt x="0" y="0"/>
                  </a:moveTo>
                  <a:lnTo>
                    <a:pt x="5663682" y="0"/>
                  </a:lnTo>
                  <a:lnTo>
                    <a:pt x="5663682" y="3778898"/>
                  </a:lnTo>
                  <a:lnTo>
                    <a:pt x="0" y="3778898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 dirty="0"/>
            </a:p>
          </p:txBody>
        </p:sp>
      </p:grp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09870773-71FD-48B8-8B98-E7321AF3F6B6}"/>
              </a:ext>
            </a:extLst>
          </p:cNvPr>
          <p:cNvSpPr/>
          <p:nvPr/>
        </p:nvSpPr>
        <p:spPr>
          <a:xfrm>
            <a:off x="6286500" y="763455"/>
            <a:ext cx="5133975" cy="5331086"/>
          </a:xfrm>
          <a:prstGeom prst="roundRect">
            <a:avLst/>
          </a:prstGeom>
          <a:solidFill>
            <a:schemeClr val="bg2">
              <a:lumMod val="10000"/>
            </a:schemeClr>
          </a:solidFill>
          <a:ln w="28575"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3600" dirty="0">
                <a:solidFill>
                  <a:schemeClr val="bg1"/>
                </a:solidFill>
                <a:latin typeface="Aptos Black" panose="020F0502020204030204" pitchFamily="34" charset="0"/>
              </a:rPr>
              <a:t>“</a:t>
            </a:r>
            <a:r>
              <a:rPr lang="en-US" sz="3600" dirty="0">
                <a:solidFill>
                  <a:schemeClr val="bg1"/>
                </a:solidFill>
                <a:latin typeface="Amasis MT Pro Medium" panose="02040604050005020304" pitchFamily="18" charset="0"/>
                <a:ea typeface="Arimo" panose="020B0604020202020204" charset="0"/>
                <a:cs typeface="Times New Roman" panose="02020603050405020304" pitchFamily="18" charset="0"/>
              </a:rPr>
              <a:t>Smart Water Tank Monitoring System</a:t>
            </a:r>
            <a:r>
              <a:rPr lang="en-US" sz="3600" dirty="0">
                <a:solidFill>
                  <a:schemeClr val="bg1"/>
                </a:solidFill>
                <a:latin typeface="Aptos Black" panose="020F0502020204030204" pitchFamily="34" charset="0"/>
                <a:ea typeface="Arimo" panose="020B0604020202020204" charset="0"/>
                <a:cs typeface="Times New Roman" panose="02020603050405020304" pitchFamily="18" charset="0"/>
              </a:rPr>
              <a:t>”</a:t>
            </a:r>
          </a:p>
          <a:p>
            <a:pPr algn="ctr"/>
            <a:endParaRPr lang="en-US" sz="3600" dirty="0">
              <a:solidFill>
                <a:schemeClr val="bg1"/>
              </a:solidFill>
              <a:latin typeface="Aptos Black" panose="020F0502020204030204" pitchFamily="34" charset="0"/>
              <a:ea typeface="Arimo" panose="020B0604020202020204" charset="0"/>
              <a:cs typeface="Times New Roman" panose="02020603050405020304" pitchFamily="18" charset="0"/>
            </a:endParaRPr>
          </a:p>
          <a:p>
            <a:pPr algn="ctr"/>
            <a:r>
              <a:rPr lang="en-US" sz="1500" b="1" dirty="0">
                <a:solidFill>
                  <a:schemeClr val="bg1">
                    <a:lumMod val="65000"/>
                  </a:schemeClr>
                </a:solidFill>
                <a:latin typeface="Times New Roman" panose="02020603050405020304" pitchFamily="18" charset="0"/>
                <a:ea typeface="Arimo" panose="020B0604020202020204" charset="0"/>
                <a:cs typeface="Times New Roman" panose="02020603050405020304" pitchFamily="18" charset="0"/>
              </a:rPr>
              <a:t>Real-time Monitoring and Qu</a:t>
            </a:r>
            <a:r>
              <a:rPr lang="en-US" sz="1500" b="1" dirty="0">
                <a:solidFill>
                  <a:schemeClr val="bg1">
                    <a:lumMod val="6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alit</a:t>
            </a:r>
            <a:r>
              <a:rPr lang="en-US" sz="1500" b="1" dirty="0">
                <a:solidFill>
                  <a:schemeClr val="bg1">
                    <a:lumMod val="65000"/>
                  </a:schemeClr>
                </a:solidFill>
                <a:latin typeface="Times New Roman" panose="02020603050405020304" pitchFamily="18" charset="0"/>
                <a:ea typeface="Arimo" panose="020B0604020202020204" charset="0"/>
                <a:cs typeface="Times New Roman" panose="02020603050405020304" pitchFamily="18" charset="0"/>
              </a:rPr>
              <a:t>y Sensing  for Improved Water Tank Efficiency and Health Safety.</a:t>
            </a:r>
            <a:endParaRPr lang="en-IN" sz="1500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D541771-3A5F-447C-B1A0-FCAC076A82CB}"/>
              </a:ext>
            </a:extLst>
          </p:cNvPr>
          <p:cNvSpPr txBox="1"/>
          <p:nvPr/>
        </p:nvSpPr>
        <p:spPr>
          <a:xfrm>
            <a:off x="9762565" y="5570675"/>
            <a:ext cx="1212191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1500" b="1" i="1" dirty="0">
                <a:solidFill>
                  <a:schemeClr val="bg1">
                    <a:lumMod val="6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By: Rahul R</a:t>
            </a:r>
          </a:p>
        </p:txBody>
      </p:sp>
    </p:spTree>
    <p:extLst>
      <p:ext uri="{BB962C8B-B14F-4D97-AF65-F5344CB8AC3E}">
        <p14:creationId xmlns:p14="http://schemas.microsoft.com/office/powerpoint/2010/main" val="299261693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Problem Statement</a:t>
            </a:r>
            <a:endParaRPr lang="en-US" sz="3000" dirty="0"/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F0678ADA-FAC1-4518-9C00-8F71C62C1621}"/>
              </a:ext>
            </a:extLst>
          </p:cNvPr>
          <p:cNvGrpSpPr/>
          <p:nvPr/>
        </p:nvGrpSpPr>
        <p:grpSpPr>
          <a:xfrm>
            <a:off x="548640" y="1600200"/>
            <a:ext cx="5349240" cy="2148840"/>
            <a:chOff x="548640" y="1600200"/>
            <a:chExt cx="5349240" cy="2148840"/>
          </a:xfrm>
        </p:grpSpPr>
        <p:sp>
          <p:nvSpPr>
            <p:cNvPr id="4" name="Shape 2"/>
            <p:cNvSpPr/>
            <p:nvPr/>
          </p:nvSpPr>
          <p:spPr>
            <a:xfrm>
              <a:off x="548640" y="1600200"/>
              <a:ext cx="5349240" cy="2148840"/>
            </a:xfrm>
            <a:prstGeom prst="roundRect">
              <a:avLst>
                <a:gd name="adj" fmla="val 3404"/>
              </a:avLst>
            </a:prstGeom>
            <a:solidFill>
              <a:srgbClr val="EAF3F6"/>
            </a:solidFill>
            <a:ln/>
            <a:effectLst>
              <a:outerShdw blurRad="76200" dist="25400" dir="5400000" algn="bl" rotWithShape="0">
                <a:srgbClr val="1C2B36">
                  <a:alpha val="12000"/>
                </a:srgbClr>
              </a:outerShdw>
            </a:effectLst>
          </p:spPr>
        </p:sp>
        <p:sp>
          <p:nvSpPr>
            <p:cNvPr id="5" name="Shape 3"/>
            <p:cNvSpPr/>
            <p:nvPr/>
          </p:nvSpPr>
          <p:spPr>
            <a:xfrm>
              <a:off x="822960" y="1874520"/>
              <a:ext cx="566928" cy="566928"/>
            </a:xfrm>
            <a:prstGeom prst="ellipse">
              <a:avLst/>
            </a:prstGeom>
            <a:solidFill>
              <a:srgbClr val="065A82"/>
            </a:solidFill>
            <a:ln/>
          </p:spPr>
        </p:sp>
        <p:pic>
          <p:nvPicPr>
            <p:cNvPr id="6" name="Image 0" descr="/home/claude/aquatracker/icons/eye_FFFFFF.png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950976" y="2002536"/>
              <a:ext cx="310896" cy="310896"/>
            </a:xfrm>
            <a:prstGeom prst="rect">
              <a:avLst/>
            </a:prstGeom>
          </p:spPr>
        </p:pic>
        <p:sp>
          <p:nvSpPr>
            <p:cNvPr id="7" name="Text 4"/>
            <p:cNvSpPr/>
            <p:nvPr/>
          </p:nvSpPr>
          <p:spPr>
            <a:xfrm>
              <a:off x="1554480" y="1856232"/>
              <a:ext cx="4160520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600" b="1" dirty="0">
                  <a:solidFill>
                    <a:srgbClr val="12263A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No visibility</a:t>
              </a:r>
              <a:endParaRPr lang="en-US" sz="1600" dirty="0"/>
            </a:p>
          </p:txBody>
        </p:sp>
        <p:sp>
          <p:nvSpPr>
            <p:cNvPr id="8" name="Text 5"/>
            <p:cNvSpPr/>
            <p:nvPr/>
          </p:nvSpPr>
          <p:spPr>
            <a:xfrm>
              <a:off x="822960" y="2514600"/>
              <a:ext cx="4800600" cy="10515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lnSpc>
                  <a:spcPct val="115000"/>
                </a:lnSpc>
                <a:buNone/>
              </a:pPr>
              <a:r>
                <a:rPr lang="en-US" sz="1250" dirty="0">
                  <a:solidFill>
                    <a:srgbClr val="5C7A8A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Overhead and underground tanks are checked physically — problems are found only after they happen.</a:t>
              </a:r>
              <a:endParaRPr lang="en-US" sz="1250" dirty="0"/>
            </a:p>
          </p:txBody>
        </p: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6D35AC2B-347C-4030-841C-0A3C288E1E39}"/>
              </a:ext>
            </a:extLst>
          </p:cNvPr>
          <p:cNvGrpSpPr/>
          <p:nvPr/>
        </p:nvGrpSpPr>
        <p:grpSpPr>
          <a:xfrm>
            <a:off x="6355080" y="1600200"/>
            <a:ext cx="5349240" cy="2148840"/>
            <a:chOff x="6355080" y="1600200"/>
            <a:chExt cx="5349240" cy="2148840"/>
          </a:xfrm>
        </p:grpSpPr>
        <p:sp>
          <p:nvSpPr>
            <p:cNvPr id="9" name="Shape 6"/>
            <p:cNvSpPr/>
            <p:nvPr/>
          </p:nvSpPr>
          <p:spPr>
            <a:xfrm>
              <a:off x="6355080" y="1600200"/>
              <a:ext cx="5349240" cy="2148840"/>
            </a:xfrm>
            <a:prstGeom prst="roundRect">
              <a:avLst>
                <a:gd name="adj" fmla="val 3404"/>
              </a:avLst>
            </a:prstGeom>
            <a:solidFill>
              <a:srgbClr val="EAF3F6"/>
            </a:solidFill>
            <a:ln/>
            <a:effectLst>
              <a:outerShdw blurRad="76200" dist="25400" dir="5400000" algn="bl" rotWithShape="0">
                <a:srgbClr val="1C2B36">
                  <a:alpha val="12000"/>
                </a:srgbClr>
              </a:outerShdw>
            </a:effectLst>
          </p:spPr>
        </p:sp>
        <p:sp>
          <p:nvSpPr>
            <p:cNvPr id="10" name="Shape 7"/>
            <p:cNvSpPr/>
            <p:nvPr/>
          </p:nvSpPr>
          <p:spPr>
            <a:xfrm>
              <a:off x="6629400" y="1874520"/>
              <a:ext cx="566928" cy="566928"/>
            </a:xfrm>
            <a:prstGeom prst="ellipse">
              <a:avLst/>
            </a:prstGeom>
            <a:solidFill>
              <a:srgbClr val="065A82"/>
            </a:solidFill>
            <a:ln/>
          </p:spPr>
        </p:sp>
        <p:pic>
          <p:nvPicPr>
            <p:cNvPr id="11" name="Image 1" descr="/home/claude/aquatracker/icons/flask_FFFFFF.png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757416" y="2002536"/>
              <a:ext cx="310896" cy="310896"/>
            </a:xfrm>
            <a:prstGeom prst="rect">
              <a:avLst/>
            </a:prstGeom>
          </p:spPr>
        </p:pic>
        <p:sp>
          <p:nvSpPr>
            <p:cNvPr id="12" name="Text 8"/>
            <p:cNvSpPr/>
            <p:nvPr/>
          </p:nvSpPr>
          <p:spPr>
            <a:xfrm>
              <a:off x="7360920" y="1856232"/>
              <a:ext cx="4160520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600" b="1" dirty="0">
                  <a:solidFill>
                    <a:srgbClr val="12263A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Unsafe water goes unnoticed</a:t>
              </a:r>
              <a:endParaRPr lang="en-US" sz="1600" dirty="0"/>
            </a:p>
          </p:txBody>
        </p:sp>
        <p:sp>
          <p:nvSpPr>
            <p:cNvPr id="13" name="Text 9"/>
            <p:cNvSpPr/>
            <p:nvPr/>
          </p:nvSpPr>
          <p:spPr>
            <a:xfrm>
              <a:off x="6629400" y="2514600"/>
              <a:ext cx="4800600" cy="10515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lnSpc>
                  <a:spcPct val="115000"/>
                </a:lnSpc>
                <a:buNone/>
              </a:pPr>
              <a:r>
                <a:rPr lang="en-US" sz="1250" dirty="0">
                  <a:solidFill>
                    <a:srgbClr val="5C7A8A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pH imbalance and rising turbidity are invisible to the eye until water is already unsafe to use.</a:t>
              </a:r>
              <a:endParaRPr lang="en-US" sz="1250" dirty="0"/>
            </a:p>
          </p:txBody>
        </p: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5186EA90-8402-4FC0-BC59-2918D1FFEDAD}"/>
              </a:ext>
            </a:extLst>
          </p:cNvPr>
          <p:cNvGrpSpPr/>
          <p:nvPr/>
        </p:nvGrpSpPr>
        <p:grpSpPr>
          <a:xfrm>
            <a:off x="548640" y="4069080"/>
            <a:ext cx="5349240" cy="2148840"/>
            <a:chOff x="548640" y="4069080"/>
            <a:chExt cx="5349240" cy="2148840"/>
          </a:xfrm>
        </p:grpSpPr>
        <p:sp>
          <p:nvSpPr>
            <p:cNvPr id="14" name="Shape 10"/>
            <p:cNvSpPr/>
            <p:nvPr/>
          </p:nvSpPr>
          <p:spPr>
            <a:xfrm>
              <a:off x="548640" y="4069080"/>
              <a:ext cx="5349240" cy="2148840"/>
            </a:xfrm>
            <a:prstGeom prst="roundRect">
              <a:avLst>
                <a:gd name="adj" fmla="val 3404"/>
              </a:avLst>
            </a:prstGeom>
            <a:solidFill>
              <a:srgbClr val="EAF3F6"/>
            </a:solidFill>
            <a:ln/>
            <a:effectLst>
              <a:outerShdw blurRad="76200" dist="25400" dir="5400000" algn="bl" rotWithShape="0">
                <a:srgbClr val="1C2B36">
                  <a:alpha val="12000"/>
                </a:srgbClr>
              </a:outerShdw>
            </a:effectLst>
          </p:spPr>
        </p:sp>
        <p:sp>
          <p:nvSpPr>
            <p:cNvPr id="15" name="Shape 11"/>
            <p:cNvSpPr/>
            <p:nvPr/>
          </p:nvSpPr>
          <p:spPr>
            <a:xfrm>
              <a:off x="822960" y="4343400"/>
              <a:ext cx="566928" cy="566928"/>
            </a:xfrm>
            <a:prstGeom prst="ellipse">
              <a:avLst/>
            </a:prstGeom>
            <a:solidFill>
              <a:srgbClr val="065A82"/>
            </a:solidFill>
            <a:ln/>
          </p:spPr>
        </p:sp>
        <p:pic>
          <p:nvPicPr>
            <p:cNvPr id="16" name="Image 2" descr="/home/claude/aquatracker/icons/bolt_FFFFFF.png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022696" y="4471416"/>
              <a:ext cx="310896" cy="310896"/>
            </a:xfrm>
            <a:prstGeom prst="rect">
              <a:avLst/>
            </a:prstGeom>
          </p:spPr>
        </p:pic>
        <p:sp>
          <p:nvSpPr>
            <p:cNvPr id="17" name="Text 12"/>
            <p:cNvSpPr/>
            <p:nvPr/>
          </p:nvSpPr>
          <p:spPr>
            <a:xfrm>
              <a:off x="1554480" y="4325112"/>
              <a:ext cx="4160520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600" b="1" dirty="0">
                  <a:solidFill>
                    <a:srgbClr val="12263A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Overflow &amp; wastage</a:t>
              </a:r>
              <a:endParaRPr lang="en-US" sz="1600" dirty="0"/>
            </a:p>
          </p:txBody>
        </p:sp>
        <p:sp>
          <p:nvSpPr>
            <p:cNvPr id="18" name="Text 13"/>
            <p:cNvSpPr/>
            <p:nvPr/>
          </p:nvSpPr>
          <p:spPr>
            <a:xfrm>
              <a:off x="822960" y="4983480"/>
              <a:ext cx="4800600" cy="10515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lnSpc>
                  <a:spcPct val="115000"/>
                </a:lnSpc>
                <a:buNone/>
              </a:pPr>
              <a:r>
                <a:rPr lang="en-US" sz="1250" dirty="0">
                  <a:solidFill>
                    <a:srgbClr val="5C7A8A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Tanks overflow silently, wasting pumped water and electricity, especially in unattended installations.</a:t>
              </a:r>
              <a:endParaRPr lang="en-US" sz="1250" dirty="0"/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356DC776-60B8-43AB-976B-45673C382235}"/>
              </a:ext>
            </a:extLst>
          </p:cNvPr>
          <p:cNvGrpSpPr/>
          <p:nvPr/>
        </p:nvGrpSpPr>
        <p:grpSpPr>
          <a:xfrm>
            <a:off x="6355080" y="4069080"/>
            <a:ext cx="5349240" cy="2148840"/>
            <a:chOff x="6355080" y="4069080"/>
            <a:chExt cx="5349240" cy="2148840"/>
          </a:xfrm>
        </p:grpSpPr>
        <p:sp>
          <p:nvSpPr>
            <p:cNvPr id="19" name="Shape 14"/>
            <p:cNvSpPr/>
            <p:nvPr/>
          </p:nvSpPr>
          <p:spPr>
            <a:xfrm>
              <a:off x="6355080" y="4069080"/>
              <a:ext cx="5349240" cy="2148840"/>
            </a:xfrm>
            <a:prstGeom prst="roundRect">
              <a:avLst>
                <a:gd name="adj" fmla="val 3404"/>
              </a:avLst>
            </a:prstGeom>
            <a:solidFill>
              <a:srgbClr val="EAF3F6"/>
            </a:solidFill>
            <a:ln/>
            <a:effectLst>
              <a:outerShdw blurRad="76200" dist="25400" dir="5400000" algn="bl" rotWithShape="0">
                <a:srgbClr val="1C2B36">
                  <a:alpha val="12000"/>
                </a:srgbClr>
              </a:outerShdw>
            </a:effectLst>
          </p:spPr>
        </p:sp>
        <p:sp>
          <p:nvSpPr>
            <p:cNvPr id="20" name="Shape 15"/>
            <p:cNvSpPr/>
            <p:nvPr/>
          </p:nvSpPr>
          <p:spPr>
            <a:xfrm>
              <a:off x="6629400" y="4343400"/>
              <a:ext cx="566928" cy="566928"/>
            </a:xfrm>
            <a:prstGeom prst="ellipse">
              <a:avLst/>
            </a:prstGeom>
            <a:solidFill>
              <a:srgbClr val="065A82"/>
            </a:solidFill>
            <a:ln/>
          </p:spPr>
        </p:sp>
        <p:pic>
          <p:nvPicPr>
            <p:cNvPr id="21" name="Image 3" descr="/home/claude/aquatracker/icons/wrench_FFFFFF.png"/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6757416" y="4471416"/>
              <a:ext cx="310896" cy="310896"/>
            </a:xfrm>
            <a:prstGeom prst="rect">
              <a:avLst/>
            </a:prstGeom>
          </p:spPr>
        </p:pic>
        <p:sp>
          <p:nvSpPr>
            <p:cNvPr id="22" name="Text 16"/>
            <p:cNvSpPr/>
            <p:nvPr/>
          </p:nvSpPr>
          <p:spPr>
            <a:xfrm>
              <a:off x="7360920" y="4325112"/>
              <a:ext cx="4160520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600" b="1" dirty="0">
                  <a:solidFill>
                    <a:srgbClr val="12263A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No remote power option</a:t>
              </a:r>
              <a:endParaRPr lang="en-US" sz="1600" dirty="0"/>
            </a:p>
          </p:txBody>
        </p:sp>
        <p:sp>
          <p:nvSpPr>
            <p:cNvPr id="23" name="Text 17"/>
            <p:cNvSpPr/>
            <p:nvPr/>
          </p:nvSpPr>
          <p:spPr>
            <a:xfrm>
              <a:off x="6629400" y="4983480"/>
              <a:ext cx="4800600" cy="10515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lnSpc>
                  <a:spcPct val="115000"/>
                </a:lnSpc>
                <a:buNone/>
              </a:pPr>
              <a:r>
                <a:rPr lang="en-US" sz="1250" dirty="0">
                  <a:solidFill>
                    <a:srgbClr val="5C7A8A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Traditional monitoring setups need mains power and Wi-Fi, ruling out farms, rooftops and remote sites.</a:t>
              </a:r>
              <a:endParaRPr lang="en-US" sz="1250" dirty="0"/>
            </a:p>
          </p:txBody>
        </p:sp>
      </p:grpSp>
      <p:sp>
        <p:nvSpPr>
          <p:cNvPr id="24" name="Text 18"/>
          <p:cNvSpPr/>
          <p:nvPr/>
        </p:nvSpPr>
        <p:spPr>
          <a:xfrm>
            <a:off x="11127737" y="6217921"/>
            <a:ext cx="728263" cy="361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5C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AquaTracker</a:t>
            </a:r>
            <a:endParaRPr lang="en-US" sz="1000" dirty="0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3F2F3F7A-AA66-437F-999E-38689313F07D}"/>
              </a:ext>
            </a:extLst>
          </p:cNvPr>
          <p:cNvSpPr/>
          <p:nvPr/>
        </p:nvSpPr>
        <p:spPr>
          <a:xfrm>
            <a:off x="336000" y="279000"/>
            <a:ext cx="11520000" cy="6300000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AquaTracker Fits</a:t>
            </a:r>
            <a:endParaRPr lang="en-US" sz="3000" dirty="0"/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FB4A5641-2F4A-4F74-A805-842D24E8CA61}"/>
              </a:ext>
            </a:extLst>
          </p:cNvPr>
          <p:cNvGrpSpPr/>
          <p:nvPr/>
        </p:nvGrpSpPr>
        <p:grpSpPr>
          <a:xfrm>
            <a:off x="629320" y="1645920"/>
            <a:ext cx="2606040" cy="3931920"/>
            <a:chOff x="548640" y="1645920"/>
            <a:chExt cx="2606040" cy="3931920"/>
          </a:xfrm>
        </p:grpSpPr>
        <p:sp>
          <p:nvSpPr>
            <p:cNvPr id="4" name="Shape 2"/>
            <p:cNvSpPr/>
            <p:nvPr/>
          </p:nvSpPr>
          <p:spPr>
            <a:xfrm>
              <a:off x="548640" y="1645920"/>
              <a:ext cx="2606040" cy="3931920"/>
            </a:xfrm>
            <a:prstGeom prst="roundRect">
              <a:avLst>
                <a:gd name="adj" fmla="val 2807"/>
              </a:avLst>
            </a:prstGeom>
            <a:solidFill>
              <a:srgbClr val="065A82"/>
            </a:solidFill>
            <a:ln/>
          </p:spPr>
        </p:sp>
        <p:sp>
          <p:nvSpPr>
            <p:cNvPr id="5" name="Shape 3"/>
            <p:cNvSpPr/>
            <p:nvPr/>
          </p:nvSpPr>
          <p:spPr>
            <a:xfrm>
              <a:off x="1440180" y="2011680"/>
              <a:ext cx="822960" cy="822960"/>
            </a:xfrm>
            <a:prstGeom prst="ellipse">
              <a:avLst/>
            </a:prstGeom>
            <a:solidFill>
              <a:srgbClr val="FFFFFF">
                <a:alpha val="88000"/>
              </a:srgbClr>
            </a:solidFill>
            <a:ln/>
          </p:spPr>
        </p:sp>
        <p:pic>
          <p:nvPicPr>
            <p:cNvPr id="6" name="Image 0" descr="/home/claude/aquatracker/icons/home_065A82.png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623060" y="2240280"/>
              <a:ext cx="457200" cy="457200"/>
            </a:xfrm>
            <a:prstGeom prst="rect">
              <a:avLst/>
            </a:prstGeom>
          </p:spPr>
        </p:pic>
        <p:sp>
          <p:nvSpPr>
            <p:cNvPr id="7" name="Text 4"/>
            <p:cNvSpPr/>
            <p:nvPr/>
          </p:nvSpPr>
          <p:spPr>
            <a:xfrm>
              <a:off x="731520" y="3063240"/>
              <a:ext cx="2240280" cy="6400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500" b="1" dirty="0">
                  <a:solidFill>
                    <a:srgbClr val="FFFF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Homes &amp; apartments</a:t>
              </a:r>
              <a:endParaRPr lang="en-US" sz="1500" dirty="0"/>
            </a:p>
          </p:txBody>
        </p:sp>
        <p:sp>
          <p:nvSpPr>
            <p:cNvPr id="8" name="Text 5"/>
            <p:cNvSpPr/>
            <p:nvPr/>
          </p:nvSpPr>
          <p:spPr>
            <a:xfrm>
              <a:off x="777240" y="3794760"/>
              <a:ext cx="2148840" cy="16459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lnSpc>
                  <a:spcPct val="120000"/>
                </a:lnSpc>
                <a:buNone/>
              </a:pPr>
              <a:r>
                <a:rPr lang="en-US" sz="1150" dirty="0">
                  <a:solidFill>
                    <a:srgbClr val="E4F0F5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Rooftop / sump tank overflow prevention and drinking water quality checks.</a:t>
              </a:r>
              <a:endParaRPr lang="en-US" sz="1150" dirty="0"/>
            </a:p>
          </p:txBody>
        </p: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D2F7EA19-C9DB-4B43-AB4C-2E69A42F6C5E}"/>
              </a:ext>
            </a:extLst>
          </p:cNvPr>
          <p:cNvGrpSpPr/>
          <p:nvPr/>
        </p:nvGrpSpPr>
        <p:grpSpPr>
          <a:xfrm>
            <a:off x="3387162" y="1645920"/>
            <a:ext cx="2606040" cy="3931920"/>
            <a:chOff x="3429000" y="1645920"/>
            <a:chExt cx="2606040" cy="3931920"/>
          </a:xfrm>
        </p:grpSpPr>
        <p:sp>
          <p:nvSpPr>
            <p:cNvPr id="9" name="Shape 6"/>
            <p:cNvSpPr/>
            <p:nvPr/>
          </p:nvSpPr>
          <p:spPr>
            <a:xfrm>
              <a:off x="3429000" y="1645920"/>
              <a:ext cx="2606040" cy="3931920"/>
            </a:xfrm>
            <a:prstGeom prst="roundRect">
              <a:avLst>
                <a:gd name="adj" fmla="val 2807"/>
              </a:avLst>
            </a:prstGeom>
            <a:solidFill>
              <a:srgbClr val="1C7293"/>
            </a:solidFill>
            <a:ln/>
          </p:spPr>
        </p:sp>
        <p:sp>
          <p:nvSpPr>
            <p:cNvPr id="10" name="Shape 7"/>
            <p:cNvSpPr/>
            <p:nvPr/>
          </p:nvSpPr>
          <p:spPr>
            <a:xfrm>
              <a:off x="4320540" y="2011680"/>
              <a:ext cx="822960" cy="822960"/>
            </a:xfrm>
            <a:prstGeom prst="ellipse">
              <a:avLst/>
            </a:prstGeom>
            <a:solidFill>
              <a:srgbClr val="FFFFFF">
                <a:alpha val="88000"/>
              </a:srgbClr>
            </a:solidFill>
            <a:ln/>
          </p:spPr>
        </p:sp>
        <p:pic>
          <p:nvPicPr>
            <p:cNvPr id="11" name="Image 1" descr="/home/claude/aquatracker/icons/seedling_065A82.png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503420" y="2240280"/>
              <a:ext cx="457200" cy="457200"/>
            </a:xfrm>
            <a:prstGeom prst="rect">
              <a:avLst/>
            </a:prstGeom>
          </p:spPr>
        </p:pic>
        <p:sp>
          <p:nvSpPr>
            <p:cNvPr id="12" name="Text 8"/>
            <p:cNvSpPr/>
            <p:nvPr/>
          </p:nvSpPr>
          <p:spPr>
            <a:xfrm>
              <a:off x="3611880" y="3063240"/>
              <a:ext cx="2240280" cy="6400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500" b="1" dirty="0">
                  <a:solidFill>
                    <a:srgbClr val="FFFF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Agriculture</a:t>
              </a:r>
              <a:endParaRPr lang="en-US" sz="1500" dirty="0"/>
            </a:p>
          </p:txBody>
        </p:sp>
        <p:sp>
          <p:nvSpPr>
            <p:cNvPr id="13" name="Text 9"/>
            <p:cNvSpPr/>
            <p:nvPr/>
          </p:nvSpPr>
          <p:spPr>
            <a:xfrm>
              <a:off x="3657600" y="3794760"/>
              <a:ext cx="2148840" cy="16459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lnSpc>
                  <a:spcPct val="120000"/>
                </a:lnSpc>
                <a:buNone/>
              </a:pPr>
              <a:r>
                <a:rPr lang="en-US" sz="1150" dirty="0">
                  <a:solidFill>
                    <a:srgbClr val="E4F0F5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Irrigation tanks and farm ponds monitored for level and turbidity, off-grid on solar.</a:t>
              </a:r>
              <a:endParaRPr lang="en-US" sz="1150" dirty="0"/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72CE25A8-BB5D-4A6E-98FF-4652FBDA804C}"/>
              </a:ext>
            </a:extLst>
          </p:cNvPr>
          <p:cNvGrpSpPr/>
          <p:nvPr/>
        </p:nvGrpSpPr>
        <p:grpSpPr>
          <a:xfrm>
            <a:off x="6145004" y="1645920"/>
            <a:ext cx="2606040" cy="3931920"/>
            <a:chOff x="6309360" y="1645920"/>
            <a:chExt cx="2606040" cy="3931920"/>
          </a:xfrm>
        </p:grpSpPr>
        <p:sp>
          <p:nvSpPr>
            <p:cNvPr id="14" name="Shape 10"/>
            <p:cNvSpPr/>
            <p:nvPr/>
          </p:nvSpPr>
          <p:spPr>
            <a:xfrm>
              <a:off x="6309360" y="1645920"/>
              <a:ext cx="2606040" cy="3931920"/>
            </a:xfrm>
            <a:prstGeom prst="roundRect">
              <a:avLst>
                <a:gd name="adj" fmla="val 2807"/>
              </a:avLst>
            </a:prstGeom>
            <a:solidFill>
              <a:srgbClr val="065A82"/>
            </a:solidFill>
            <a:ln/>
          </p:spPr>
        </p:sp>
        <p:sp>
          <p:nvSpPr>
            <p:cNvPr id="15" name="Shape 11"/>
            <p:cNvSpPr/>
            <p:nvPr/>
          </p:nvSpPr>
          <p:spPr>
            <a:xfrm>
              <a:off x="7200900" y="2011680"/>
              <a:ext cx="822960" cy="822960"/>
            </a:xfrm>
            <a:prstGeom prst="ellipse">
              <a:avLst/>
            </a:prstGeom>
            <a:solidFill>
              <a:srgbClr val="FFFFFF">
                <a:alpha val="88000"/>
              </a:srgbClr>
            </a:solidFill>
            <a:ln/>
          </p:spPr>
        </p:sp>
        <p:pic>
          <p:nvPicPr>
            <p:cNvPr id="16" name="Image 2" descr="/home/claude/aquatracker/icons/industry_065A82.png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7383780" y="2240280"/>
              <a:ext cx="457200" cy="457200"/>
            </a:xfrm>
            <a:prstGeom prst="rect">
              <a:avLst/>
            </a:prstGeom>
          </p:spPr>
        </p:pic>
        <p:sp>
          <p:nvSpPr>
            <p:cNvPr id="17" name="Text 12"/>
            <p:cNvSpPr/>
            <p:nvPr/>
          </p:nvSpPr>
          <p:spPr>
            <a:xfrm>
              <a:off x="6492240" y="3063240"/>
              <a:ext cx="2240280" cy="6400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500" b="1" dirty="0">
                  <a:solidFill>
                    <a:srgbClr val="FFFF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Industrial sites</a:t>
              </a:r>
              <a:endParaRPr lang="en-US" sz="1500" dirty="0"/>
            </a:p>
          </p:txBody>
        </p:sp>
        <p:sp>
          <p:nvSpPr>
            <p:cNvPr id="18" name="Text 13"/>
            <p:cNvSpPr/>
            <p:nvPr/>
          </p:nvSpPr>
          <p:spPr>
            <a:xfrm>
              <a:off x="6537960" y="3794760"/>
              <a:ext cx="2148840" cy="16459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lnSpc>
                  <a:spcPct val="120000"/>
                </a:lnSpc>
                <a:buNone/>
              </a:pPr>
              <a:r>
                <a:rPr lang="en-US" sz="1150" dirty="0">
                  <a:solidFill>
                    <a:srgbClr val="E4F0F5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Process water and effluent tanks tracked continuously without manual rounds.</a:t>
              </a:r>
              <a:endParaRPr lang="en-US" sz="1150" dirty="0"/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C80427A3-E3B2-4FA0-8CE9-563FB6D6DC2E}"/>
              </a:ext>
            </a:extLst>
          </p:cNvPr>
          <p:cNvGrpSpPr/>
          <p:nvPr/>
        </p:nvGrpSpPr>
        <p:grpSpPr>
          <a:xfrm>
            <a:off x="8902846" y="1645920"/>
            <a:ext cx="2606040" cy="3931920"/>
            <a:chOff x="9189720" y="1645920"/>
            <a:chExt cx="2606040" cy="3931920"/>
          </a:xfrm>
        </p:grpSpPr>
        <p:sp>
          <p:nvSpPr>
            <p:cNvPr id="19" name="Shape 14"/>
            <p:cNvSpPr/>
            <p:nvPr/>
          </p:nvSpPr>
          <p:spPr>
            <a:xfrm>
              <a:off x="9189720" y="1645920"/>
              <a:ext cx="2606040" cy="3931920"/>
            </a:xfrm>
            <a:prstGeom prst="roundRect">
              <a:avLst>
                <a:gd name="adj" fmla="val 2807"/>
              </a:avLst>
            </a:prstGeom>
            <a:solidFill>
              <a:srgbClr val="1C7293"/>
            </a:solidFill>
            <a:ln/>
          </p:spPr>
        </p:sp>
        <p:sp>
          <p:nvSpPr>
            <p:cNvPr id="20" name="Shape 15"/>
            <p:cNvSpPr/>
            <p:nvPr/>
          </p:nvSpPr>
          <p:spPr>
            <a:xfrm>
              <a:off x="10081260" y="2011680"/>
              <a:ext cx="822960" cy="822960"/>
            </a:xfrm>
            <a:prstGeom prst="ellipse">
              <a:avLst/>
            </a:prstGeom>
            <a:solidFill>
              <a:srgbClr val="FFFFFF">
                <a:alpha val="88000"/>
              </a:srgbClr>
            </a:solidFill>
            <a:ln/>
          </p:spPr>
        </p:sp>
        <p:pic>
          <p:nvPicPr>
            <p:cNvPr id="21" name="Image 3" descr="/home/claude/aquatracker/icons/mapmarker_065A82.png"/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10264140" y="2240280"/>
              <a:ext cx="457200" cy="457200"/>
            </a:xfrm>
            <a:prstGeom prst="rect">
              <a:avLst/>
            </a:prstGeom>
          </p:spPr>
        </p:pic>
        <p:sp>
          <p:nvSpPr>
            <p:cNvPr id="22" name="Text 16"/>
            <p:cNvSpPr/>
            <p:nvPr/>
          </p:nvSpPr>
          <p:spPr>
            <a:xfrm>
              <a:off x="9372600" y="3063240"/>
              <a:ext cx="2240280" cy="6400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500" b="1" dirty="0">
                  <a:solidFill>
                    <a:srgbClr val="FFFF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Remote / rural areas</a:t>
              </a:r>
              <a:endParaRPr lang="en-US" sz="1500" dirty="0"/>
            </a:p>
          </p:txBody>
        </p:sp>
        <p:sp>
          <p:nvSpPr>
            <p:cNvPr id="23" name="Text 17"/>
            <p:cNvSpPr/>
            <p:nvPr/>
          </p:nvSpPr>
          <p:spPr>
            <a:xfrm>
              <a:off x="9418320" y="3794760"/>
              <a:ext cx="2148840" cy="16459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lnSpc>
                  <a:spcPct val="120000"/>
                </a:lnSpc>
                <a:buNone/>
              </a:pPr>
              <a:r>
                <a:rPr lang="en-US" sz="1150" dirty="0">
                  <a:solidFill>
                    <a:srgbClr val="E4F0F5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No mains power or broadband needed — solar + GSM covers areas Wi-Fi can't.</a:t>
              </a:r>
              <a:endParaRPr lang="en-US" sz="1150" dirty="0"/>
            </a:p>
          </p:txBody>
        </p:sp>
      </p:grpSp>
      <p:sp>
        <p:nvSpPr>
          <p:cNvPr id="30" name="Text 18">
            <a:extLst>
              <a:ext uri="{FF2B5EF4-FFF2-40B4-BE49-F238E27FC236}">
                <a16:creationId xmlns:a16="http://schemas.microsoft.com/office/drawing/2014/main" id="{806A832E-6090-4E2C-AE81-B9A60CF5F5E1}"/>
              </a:ext>
            </a:extLst>
          </p:cNvPr>
          <p:cNvSpPr/>
          <p:nvPr/>
        </p:nvSpPr>
        <p:spPr>
          <a:xfrm>
            <a:off x="11127737" y="6217921"/>
            <a:ext cx="728263" cy="361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5C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AquaTracker</a:t>
            </a:r>
            <a:endParaRPr lang="en-US" sz="1000" dirty="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C84062F4-FAB7-4117-9FDC-FC2B656ACF2D}"/>
              </a:ext>
            </a:extLst>
          </p:cNvPr>
          <p:cNvSpPr/>
          <p:nvPr/>
        </p:nvSpPr>
        <p:spPr>
          <a:xfrm>
            <a:off x="336000" y="279000"/>
            <a:ext cx="11520000" cy="6300000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AquaTracker Is Convenient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167207" y="1618488"/>
            <a:ext cx="502920" cy="502920"/>
          </a:xfrm>
          <a:prstGeom prst="ellipse">
            <a:avLst/>
          </a:prstGeom>
          <a:solidFill>
            <a:srgbClr val="1C7293"/>
          </a:solidFill>
          <a:ln/>
        </p:spPr>
      </p:sp>
      <p:pic>
        <p:nvPicPr>
          <p:cNvPr id="5" name="Image 0" descr="/home/claude/aquatracker/icons/solar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76935" y="1728216"/>
            <a:ext cx="283464" cy="28346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898727" y="1554480"/>
            <a:ext cx="270913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Fully solar powered</a:t>
            </a:r>
            <a:endParaRPr lang="en-US" sz="1550" dirty="0"/>
          </a:p>
        </p:txBody>
      </p:sp>
      <p:sp>
        <p:nvSpPr>
          <p:cNvPr id="7" name="Text 4"/>
          <p:cNvSpPr/>
          <p:nvPr/>
        </p:nvSpPr>
        <p:spPr>
          <a:xfrm>
            <a:off x="4684058" y="1554480"/>
            <a:ext cx="6309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3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12V battery charged by a solar panel — works continuously with no mains electricity dependency.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1167207" y="2670048"/>
            <a:ext cx="502920" cy="502920"/>
          </a:xfrm>
          <a:prstGeom prst="ellipse">
            <a:avLst/>
          </a:prstGeom>
          <a:solidFill>
            <a:srgbClr val="1C7293"/>
          </a:solidFill>
          <a:ln/>
        </p:spPr>
      </p:sp>
      <p:pic>
        <p:nvPicPr>
          <p:cNvPr id="9" name="Image 1" descr="/home/claude/aquatracker/icons/sms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76935" y="2779776"/>
            <a:ext cx="283464" cy="283464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898727" y="2606040"/>
            <a:ext cx="270913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Alerts come to you</a:t>
            </a:r>
            <a:endParaRPr lang="en-US" sz="1550" dirty="0"/>
          </a:p>
        </p:txBody>
      </p:sp>
      <p:sp>
        <p:nvSpPr>
          <p:cNvPr id="11" name="Text 7"/>
          <p:cNvSpPr/>
          <p:nvPr/>
        </p:nvSpPr>
        <p:spPr>
          <a:xfrm>
            <a:off x="4684058" y="2606040"/>
            <a:ext cx="6309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3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No app or dashboard to check — SMS alerts land directly on any basic mobile phone via GSM.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1167207" y="3721608"/>
            <a:ext cx="502920" cy="502920"/>
          </a:xfrm>
          <a:prstGeom prst="ellipse">
            <a:avLst/>
          </a:prstGeom>
          <a:solidFill>
            <a:srgbClr val="1C7293"/>
          </a:solidFill>
          <a:ln/>
        </p:spPr>
      </p:sp>
      <p:pic>
        <p:nvPicPr>
          <p:cNvPr id="13" name="Image 2" descr="/home/claude/aquatracker/icons/phone_FFFFF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39689" y="3831336"/>
            <a:ext cx="283464" cy="283464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898727" y="3657600"/>
            <a:ext cx="270913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Call-and-check</a:t>
            </a:r>
            <a:endParaRPr lang="en-US" sz="1550" dirty="0"/>
          </a:p>
        </p:txBody>
      </p:sp>
      <p:sp>
        <p:nvSpPr>
          <p:cNvPr id="15" name="Text 10"/>
          <p:cNvSpPr/>
          <p:nvPr/>
        </p:nvSpPr>
        <p:spPr>
          <a:xfrm>
            <a:off x="4684058" y="3657600"/>
            <a:ext cx="6309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3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Anyone can call the device's SIM number and instantly get an SMS back with live readings.</a:t>
            </a:r>
            <a:endParaRPr lang="en-US" sz="1300" dirty="0"/>
          </a:p>
        </p:txBody>
      </p:sp>
      <p:sp>
        <p:nvSpPr>
          <p:cNvPr id="16" name="Shape 11"/>
          <p:cNvSpPr/>
          <p:nvPr/>
        </p:nvSpPr>
        <p:spPr>
          <a:xfrm>
            <a:off x="1167207" y="4773168"/>
            <a:ext cx="502920" cy="502920"/>
          </a:xfrm>
          <a:prstGeom prst="ellipse">
            <a:avLst/>
          </a:prstGeom>
          <a:solidFill>
            <a:srgbClr val="1C7293"/>
          </a:solidFill>
          <a:ln/>
        </p:spPr>
      </p:sp>
      <p:pic>
        <p:nvPicPr>
          <p:cNvPr id="17" name="Image 3" descr="/home/claude/aquatracker/icons/cpu_FFFFF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76935" y="4882896"/>
            <a:ext cx="283464" cy="283464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1898727" y="4709160"/>
            <a:ext cx="270913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Low-cost, simple hardware</a:t>
            </a:r>
            <a:endParaRPr lang="en-US" sz="1550" dirty="0"/>
          </a:p>
        </p:txBody>
      </p:sp>
      <p:sp>
        <p:nvSpPr>
          <p:cNvPr id="19" name="Text 13"/>
          <p:cNvSpPr/>
          <p:nvPr/>
        </p:nvSpPr>
        <p:spPr>
          <a:xfrm>
            <a:off x="4684058" y="4709160"/>
            <a:ext cx="6309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3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Built entirely on an Arduino UNO with off-the-shelf sensors — easy to replicate and maintain.</a:t>
            </a:r>
            <a:endParaRPr lang="en-US" sz="1300" dirty="0"/>
          </a:p>
        </p:txBody>
      </p:sp>
      <p:sp>
        <p:nvSpPr>
          <p:cNvPr id="22" name="Text 18">
            <a:extLst>
              <a:ext uri="{FF2B5EF4-FFF2-40B4-BE49-F238E27FC236}">
                <a16:creationId xmlns:a16="http://schemas.microsoft.com/office/drawing/2014/main" id="{ECC24B03-AFBE-4092-A8C2-A44F487D3317}"/>
              </a:ext>
            </a:extLst>
          </p:cNvPr>
          <p:cNvSpPr/>
          <p:nvPr/>
        </p:nvSpPr>
        <p:spPr>
          <a:xfrm>
            <a:off x="11127737" y="6217921"/>
            <a:ext cx="728263" cy="361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5C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AquaTracker</a:t>
            </a:r>
            <a:endParaRPr lang="en-US" sz="1000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154063A-AA51-43B8-86A8-FAC79099A77B}"/>
              </a:ext>
            </a:extLst>
          </p:cNvPr>
          <p:cNvSpPr/>
          <p:nvPr/>
        </p:nvSpPr>
        <p:spPr>
          <a:xfrm>
            <a:off x="336000" y="279000"/>
            <a:ext cx="11520000" cy="6300000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Aligned with the UN Sustainable Development Goals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377875"/>
            <a:ext cx="3108960" cy="4343400"/>
          </a:xfrm>
          <a:prstGeom prst="roundRect">
            <a:avLst>
              <a:gd name="adj" fmla="val 2647"/>
            </a:avLst>
          </a:prstGeom>
          <a:solidFill>
            <a:srgbClr val="26BDE2"/>
          </a:solidFill>
          <a:ln>
            <a:solidFill>
              <a:schemeClr val="tx1"/>
            </a:solidFill>
          </a:ln>
        </p:spPr>
      </p:sp>
      <p:sp>
        <p:nvSpPr>
          <p:cNvPr id="5" name="Shape 3"/>
          <p:cNvSpPr/>
          <p:nvPr/>
        </p:nvSpPr>
        <p:spPr>
          <a:xfrm>
            <a:off x="1417320" y="1880795"/>
            <a:ext cx="1371600" cy="1371600"/>
          </a:xfrm>
          <a:prstGeom prst="ellipse">
            <a:avLst/>
          </a:prstGeom>
          <a:solidFill>
            <a:srgbClr val="FFFFFF">
              <a:alpha val="90000"/>
            </a:srgbClr>
          </a:solidFill>
          <a:ln/>
        </p:spPr>
      </p:sp>
      <p:pic>
        <p:nvPicPr>
          <p:cNvPr id="6" name="Image 0" descr="/home/claude/aquatracker/icons/droplet_065A8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53902" y="2200835"/>
            <a:ext cx="731520" cy="7315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31520" y="3435275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 6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731520" y="3892475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Water</a:t>
            </a:r>
            <a:endParaRPr lang="en-US" sz="1500" dirty="0"/>
          </a:p>
          <a:p>
            <a:pPr marL="0" indent="0" algn="ctr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Sanitation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731520" y="4898315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050" i="1" dirty="0">
                <a:solidFill>
                  <a:srgbClr val="E7F8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United Nations</a:t>
            </a:r>
            <a:endParaRPr lang="en-US" sz="1050" dirty="0"/>
          </a:p>
          <a:p>
            <a:pPr marL="0" indent="0" algn="ctr">
              <a:lnSpc>
                <a:spcPct val="115000"/>
              </a:lnSpc>
              <a:buNone/>
            </a:pPr>
            <a:r>
              <a:rPr lang="en-US" sz="1050" i="1" dirty="0">
                <a:solidFill>
                  <a:srgbClr val="E7F8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Sustainable Development Goal</a:t>
            </a:r>
            <a:endParaRPr lang="en-US" sz="1050" dirty="0"/>
          </a:p>
        </p:txBody>
      </p:sp>
      <p:sp>
        <p:nvSpPr>
          <p:cNvPr id="12" name="Text 8"/>
          <p:cNvSpPr/>
          <p:nvPr/>
        </p:nvSpPr>
        <p:spPr>
          <a:xfrm>
            <a:off x="3956660" y="140477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sz="140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 drinking water monitoring</a:t>
            </a:r>
            <a:endParaRPr lang="en-US" sz="1400" dirty="0"/>
          </a:p>
        </p:txBody>
      </p:sp>
      <p:sp>
        <p:nvSpPr>
          <p:cNvPr id="13" name="Text 9"/>
          <p:cNvSpPr/>
          <p:nvPr/>
        </p:nvSpPr>
        <p:spPr>
          <a:xfrm>
            <a:off x="4261460" y="1770530"/>
            <a:ext cx="6858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C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Continuous pH and turbidity tracking helps catch unsafe or contaminated water early, supporting SDG target 6.1 on safe and affordable drinking water.</a:t>
            </a:r>
            <a:endParaRPr lang="en-US" sz="1150" dirty="0"/>
          </a:p>
        </p:txBody>
      </p:sp>
      <p:sp>
        <p:nvSpPr>
          <p:cNvPr id="16" name="Text 11"/>
          <p:cNvSpPr/>
          <p:nvPr/>
        </p:nvSpPr>
        <p:spPr>
          <a:xfrm>
            <a:off x="3956660" y="245633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sz="140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Reducing water wastage</a:t>
            </a:r>
            <a:endParaRPr lang="en-US" sz="1400" dirty="0"/>
          </a:p>
        </p:txBody>
      </p:sp>
      <p:sp>
        <p:nvSpPr>
          <p:cNvPr id="17" name="Text 12"/>
          <p:cNvSpPr/>
          <p:nvPr/>
        </p:nvSpPr>
        <p:spPr>
          <a:xfrm>
            <a:off x="4261460" y="2822090"/>
            <a:ext cx="6858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C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Overflow alerts prevent silent tank overflow, cutting down on wasted treated water in line with SDG target 6.4 on water-use efficiency.</a:t>
            </a:r>
            <a:endParaRPr lang="en-US" sz="1150" dirty="0"/>
          </a:p>
        </p:txBody>
      </p:sp>
      <p:sp>
        <p:nvSpPr>
          <p:cNvPr id="20" name="Text 14"/>
          <p:cNvSpPr/>
          <p:nvPr/>
        </p:nvSpPr>
        <p:spPr>
          <a:xfrm>
            <a:off x="3956660" y="350789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sz="140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Sustainable, off-grid operation</a:t>
            </a:r>
            <a:endParaRPr lang="en-US" sz="1400" dirty="0"/>
          </a:p>
        </p:txBody>
      </p:sp>
      <p:sp>
        <p:nvSpPr>
          <p:cNvPr id="21" name="Text 15"/>
          <p:cNvSpPr/>
          <p:nvPr/>
        </p:nvSpPr>
        <p:spPr>
          <a:xfrm>
            <a:off x="4261460" y="3873650"/>
            <a:ext cx="6858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C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Solar power keeps monitoring running without adding to grid electricity demand, keeping the solution itself low-impact.</a:t>
            </a:r>
            <a:endParaRPr lang="en-US" sz="1150" dirty="0"/>
          </a:p>
        </p:txBody>
      </p:sp>
      <p:sp>
        <p:nvSpPr>
          <p:cNvPr id="24" name="Text 17"/>
          <p:cNvSpPr/>
          <p:nvPr/>
        </p:nvSpPr>
        <p:spPr>
          <a:xfrm>
            <a:off x="3956660" y="455945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sz="140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Extending access to underserved areas</a:t>
            </a:r>
            <a:endParaRPr lang="en-US" sz="1400" dirty="0"/>
          </a:p>
        </p:txBody>
      </p:sp>
      <p:sp>
        <p:nvSpPr>
          <p:cNvPr id="25" name="Text 18"/>
          <p:cNvSpPr/>
          <p:nvPr/>
        </p:nvSpPr>
        <p:spPr>
          <a:xfrm>
            <a:off x="4261460" y="4925210"/>
            <a:ext cx="6858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C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Low-cost, GSM-based alerts bring quality monitoring to rural and remote communities that lack smart water infrastructure.</a:t>
            </a:r>
            <a:endParaRPr lang="en-US" sz="1150" dirty="0"/>
          </a:p>
        </p:txBody>
      </p:sp>
      <p:sp>
        <p:nvSpPr>
          <p:cNvPr id="28" name="Text 18">
            <a:extLst>
              <a:ext uri="{FF2B5EF4-FFF2-40B4-BE49-F238E27FC236}">
                <a16:creationId xmlns:a16="http://schemas.microsoft.com/office/drawing/2014/main" id="{180188C1-776E-477C-AA46-47FBB029DF2C}"/>
              </a:ext>
            </a:extLst>
          </p:cNvPr>
          <p:cNvSpPr/>
          <p:nvPr/>
        </p:nvSpPr>
        <p:spPr>
          <a:xfrm>
            <a:off x="11127737" y="6217921"/>
            <a:ext cx="728263" cy="361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5C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AquaTracker</a:t>
            </a:r>
            <a:endParaRPr lang="en-US" sz="1000" dirty="0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8892A914-B746-47BF-928B-FFF47F5469AE}"/>
              </a:ext>
            </a:extLst>
          </p:cNvPr>
          <p:cNvSpPr/>
          <p:nvPr/>
        </p:nvSpPr>
        <p:spPr>
          <a:xfrm>
            <a:off x="336000" y="279000"/>
            <a:ext cx="11520000" cy="6300000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System Architecture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348290"/>
            <a:ext cx="11064240" cy="4663440"/>
          </a:xfrm>
          <a:prstGeom prst="roundRect">
            <a:avLst>
              <a:gd name="adj" fmla="val 1176"/>
            </a:avLst>
          </a:prstGeom>
          <a:solidFill>
            <a:srgbClr val="FFFFFF"/>
          </a:solidFill>
          <a:ln w="12700">
            <a:solidFill>
              <a:srgbClr val="D6E4EA"/>
            </a:solidFill>
            <a:prstDash val="solid"/>
          </a:ln>
          <a:effectLst>
            <a:outerShdw blurRad="101600" dist="25400" dir="5400000" algn="bl" rotWithShape="0">
              <a:srgbClr val="1C2B36">
                <a:alpha val="10000"/>
              </a:srgbClr>
            </a:outerShdw>
          </a:effectLst>
        </p:spPr>
      </p:sp>
      <p:pic>
        <p:nvPicPr>
          <p:cNvPr id="5" name="Image 0" descr="/home/claude/aquatracker/architec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40339" y="1451382"/>
            <a:ext cx="6280843" cy="4206240"/>
          </a:xfrm>
          <a:prstGeom prst="rect">
            <a:avLst/>
          </a:prstGeom>
        </p:spPr>
      </p:pic>
      <p:sp>
        <p:nvSpPr>
          <p:cNvPr id="8" name="Text 18">
            <a:extLst>
              <a:ext uri="{FF2B5EF4-FFF2-40B4-BE49-F238E27FC236}">
                <a16:creationId xmlns:a16="http://schemas.microsoft.com/office/drawing/2014/main" id="{14BD09AD-CE53-4BFA-A379-2337534A93FD}"/>
              </a:ext>
            </a:extLst>
          </p:cNvPr>
          <p:cNvSpPr/>
          <p:nvPr/>
        </p:nvSpPr>
        <p:spPr>
          <a:xfrm>
            <a:off x="11127737" y="6217921"/>
            <a:ext cx="728263" cy="361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5C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AquaTracker</a:t>
            </a:r>
            <a:endParaRPr lang="en-US" sz="1000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E4A470F-A86C-4E17-846B-9A29AE475310}"/>
              </a:ext>
            </a:extLst>
          </p:cNvPr>
          <p:cNvSpPr/>
          <p:nvPr/>
        </p:nvSpPr>
        <p:spPr>
          <a:xfrm>
            <a:off x="336000" y="279000"/>
            <a:ext cx="11520000" cy="6300000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3011245" y="5633420"/>
            <a:ext cx="613903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i="1" dirty="0">
                <a:solidFill>
                  <a:srgbClr val="5C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Solar-charged battery → Arduino UNO → sensors → GSM → SMS to user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Hardware Components</a:t>
            </a:r>
            <a:endParaRPr lang="en-US" sz="3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97958491"/>
              </p:ext>
            </p:extLst>
          </p:nvPr>
        </p:nvGraphicFramePr>
        <p:xfrm>
          <a:off x="548640" y="1186924"/>
          <a:ext cx="11064240" cy="4663440"/>
        </p:xfrm>
        <a:graphic>
          <a:graphicData uri="http://schemas.openxmlformats.org/drawingml/2006/table">
            <a:tbl>
              <a:tblPr/>
              <a:tblGrid>
                <a:gridCol w="264279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42144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8293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Component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6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Role in the system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6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8293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Solar panel + 12V battery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6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Off-grid power source; keeps the unit running continuously without mains electricity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6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8293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Arduino UNO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6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Central controller — reads all sensors, runs the logic, drives the display and GSM module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6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8293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 sensor (analog)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6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Measures acidity/alkalinity of the water sample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6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8293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Turbidity sensor (analog)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6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Measures water clarity / suspended particles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6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8293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HC-SR04 ultrasonic sensor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6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Measures distance to the water surface to calculate tank level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6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8293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SIM800/900 GSM module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6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Sends SMS alerts and replies to incoming calls with live readings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6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8293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SSD1306 OLED display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6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Shows live pH, level and quality readings on-site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6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7" name="Text 18">
            <a:extLst>
              <a:ext uri="{FF2B5EF4-FFF2-40B4-BE49-F238E27FC236}">
                <a16:creationId xmlns:a16="http://schemas.microsoft.com/office/drawing/2014/main" id="{181587FA-F6EB-4999-A3FF-A3FE20A5C605}"/>
              </a:ext>
            </a:extLst>
          </p:cNvPr>
          <p:cNvSpPr/>
          <p:nvPr/>
        </p:nvSpPr>
        <p:spPr>
          <a:xfrm>
            <a:off x="11127737" y="6217921"/>
            <a:ext cx="728263" cy="361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5C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AquaTracker</a:t>
            </a:r>
            <a:endParaRPr lang="en-US" sz="1000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7B397D5-7A6F-4411-82F5-B33687DB445C}"/>
              </a:ext>
            </a:extLst>
          </p:cNvPr>
          <p:cNvSpPr/>
          <p:nvPr/>
        </p:nvSpPr>
        <p:spPr>
          <a:xfrm>
            <a:off x="336000" y="279000"/>
            <a:ext cx="11520000" cy="6300000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It Works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053353"/>
            <a:ext cx="3520440" cy="2286000"/>
          </a:xfrm>
          <a:prstGeom prst="roundRect">
            <a:avLst>
              <a:gd name="adj" fmla="val 2800"/>
            </a:avLst>
          </a:prstGeom>
          <a:solidFill>
            <a:srgbClr val="EAF3F6"/>
          </a:solidFill>
          <a:ln>
            <a:solidFill>
              <a:schemeClr val="tx1"/>
            </a:solidFill>
          </a:ln>
        </p:spPr>
      </p:sp>
      <p:sp>
        <p:nvSpPr>
          <p:cNvPr id="5" name="Shape 3"/>
          <p:cNvSpPr/>
          <p:nvPr/>
        </p:nvSpPr>
        <p:spPr>
          <a:xfrm>
            <a:off x="777240" y="1281953"/>
            <a:ext cx="457200" cy="457200"/>
          </a:xfrm>
          <a:prstGeom prst="ellipse">
            <a:avLst/>
          </a:prstGeom>
          <a:solidFill>
            <a:srgbClr val="21295C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1281953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777240" y="1876313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up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77240" y="2260361"/>
            <a:ext cx="3063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C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Solar panel keeps the 12V battery topped up; Arduino &amp; GSM run off it directly.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4297680" y="1053353"/>
            <a:ext cx="3520440" cy="2286000"/>
          </a:xfrm>
          <a:prstGeom prst="roundRect">
            <a:avLst>
              <a:gd name="adj" fmla="val 2800"/>
            </a:avLst>
          </a:prstGeom>
          <a:solidFill>
            <a:srgbClr val="EAF3F6"/>
          </a:solidFill>
          <a:ln>
            <a:solidFill>
              <a:schemeClr val="tx1"/>
            </a:solidFill>
          </a:ln>
        </p:spPr>
      </p:sp>
      <p:sp>
        <p:nvSpPr>
          <p:cNvPr id="11" name="Shape 8"/>
          <p:cNvSpPr/>
          <p:nvPr/>
        </p:nvSpPr>
        <p:spPr>
          <a:xfrm>
            <a:off x="4526280" y="1281953"/>
            <a:ext cx="457200" cy="457200"/>
          </a:xfrm>
          <a:prstGeom prst="ellipse">
            <a:avLst/>
          </a:prstGeom>
          <a:solidFill>
            <a:srgbClr val="21295C"/>
          </a:solidFill>
          <a:ln/>
        </p:spPr>
      </p:sp>
      <p:sp>
        <p:nvSpPr>
          <p:cNvPr id="12" name="Text 9"/>
          <p:cNvSpPr/>
          <p:nvPr/>
        </p:nvSpPr>
        <p:spPr>
          <a:xfrm>
            <a:off x="4526280" y="1281953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0"/>
          <p:cNvSpPr/>
          <p:nvPr/>
        </p:nvSpPr>
        <p:spPr>
          <a:xfrm>
            <a:off x="4526280" y="1876313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sensors</a:t>
            </a:r>
            <a:endParaRPr lang="en-US" sz="1450" dirty="0"/>
          </a:p>
        </p:txBody>
      </p:sp>
      <p:sp>
        <p:nvSpPr>
          <p:cNvPr id="15" name="Text 11"/>
          <p:cNvSpPr/>
          <p:nvPr/>
        </p:nvSpPr>
        <p:spPr>
          <a:xfrm>
            <a:off x="4526280" y="2260361"/>
            <a:ext cx="3063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C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pH, turbidity and ultrasonic level are sampled and noise-filtered every cycle.</a:t>
            </a:r>
            <a:endParaRPr lang="en-US" sz="1150" dirty="0"/>
          </a:p>
        </p:txBody>
      </p:sp>
      <p:sp>
        <p:nvSpPr>
          <p:cNvPr id="16" name="Shape 12"/>
          <p:cNvSpPr/>
          <p:nvPr/>
        </p:nvSpPr>
        <p:spPr>
          <a:xfrm>
            <a:off x="8046720" y="1053353"/>
            <a:ext cx="3520440" cy="2286000"/>
          </a:xfrm>
          <a:prstGeom prst="roundRect">
            <a:avLst>
              <a:gd name="adj" fmla="val 2800"/>
            </a:avLst>
          </a:prstGeom>
          <a:solidFill>
            <a:srgbClr val="EAF3F6"/>
          </a:solidFill>
          <a:ln>
            <a:solidFill>
              <a:schemeClr val="tx1"/>
            </a:solidFill>
          </a:ln>
        </p:spPr>
      </p:sp>
      <p:sp>
        <p:nvSpPr>
          <p:cNvPr id="17" name="Shape 13"/>
          <p:cNvSpPr/>
          <p:nvPr/>
        </p:nvSpPr>
        <p:spPr>
          <a:xfrm>
            <a:off x="8275320" y="1281953"/>
            <a:ext cx="457200" cy="457200"/>
          </a:xfrm>
          <a:prstGeom prst="ellipse">
            <a:avLst/>
          </a:prstGeom>
          <a:solidFill>
            <a:srgbClr val="21295C"/>
          </a:solidFill>
          <a:ln/>
        </p:spPr>
      </p:sp>
      <p:sp>
        <p:nvSpPr>
          <p:cNvPr id="18" name="Text 14"/>
          <p:cNvSpPr/>
          <p:nvPr/>
        </p:nvSpPr>
        <p:spPr>
          <a:xfrm>
            <a:off x="8275320" y="1281953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8275320" y="1876313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 readings</a:t>
            </a:r>
            <a:endParaRPr lang="en-US" sz="1450" dirty="0"/>
          </a:p>
        </p:txBody>
      </p:sp>
      <p:sp>
        <p:nvSpPr>
          <p:cNvPr id="21" name="Text 16"/>
          <p:cNvSpPr/>
          <p:nvPr/>
        </p:nvSpPr>
        <p:spPr>
          <a:xfrm>
            <a:off x="8275320" y="2260361"/>
            <a:ext cx="3063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C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Calibrated formulas turn raw voltages into real pH, NTU, °C and level %.</a:t>
            </a:r>
            <a:endParaRPr lang="en-US" sz="1150" dirty="0"/>
          </a:p>
        </p:txBody>
      </p:sp>
      <p:sp>
        <p:nvSpPr>
          <p:cNvPr id="22" name="Shape 17"/>
          <p:cNvSpPr/>
          <p:nvPr/>
        </p:nvSpPr>
        <p:spPr>
          <a:xfrm>
            <a:off x="548640" y="3613673"/>
            <a:ext cx="3520440" cy="2286000"/>
          </a:xfrm>
          <a:prstGeom prst="roundRect">
            <a:avLst>
              <a:gd name="adj" fmla="val 2800"/>
            </a:avLst>
          </a:prstGeom>
          <a:solidFill>
            <a:srgbClr val="EAF3F6"/>
          </a:solidFill>
          <a:ln>
            <a:solidFill>
              <a:schemeClr val="tx1"/>
            </a:solidFill>
          </a:ln>
        </p:spPr>
      </p:sp>
      <p:sp>
        <p:nvSpPr>
          <p:cNvPr id="23" name="Shape 18"/>
          <p:cNvSpPr/>
          <p:nvPr/>
        </p:nvSpPr>
        <p:spPr>
          <a:xfrm>
            <a:off x="777240" y="3842273"/>
            <a:ext cx="457200" cy="457200"/>
          </a:xfrm>
          <a:prstGeom prst="ellipse">
            <a:avLst/>
          </a:prstGeom>
          <a:solidFill>
            <a:srgbClr val="21295C"/>
          </a:solidFill>
          <a:ln/>
        </p:spPr>
      </p:sp>
      <p:sp>
        <p:nvSpPr>
          <p:cNvPr id="24" name="Text 19"/>
          <p:cNvSpPr/>
          <p:nvPr/>
        </p:nvSpPr>
        <p:spPr>
          <a:xfrm>
            <a:off x="777240" y="3842273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6" name="Text 20"/>
          <p:cNvSpPr/>
          <p:nvPr/>
        </p:nvSpPr>
        <p:spPr>
          <a:xfrm>
            <a:off x="777240" y="4436633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Classify quality</a:t>
            </a:r>
            <a:endParaRPr lang="en-US" sz="1450" dirty="0"/>
          </a:p>
        </p:txBody>
      </p:sp>
      <p:sp>
        <p:nvSpPr>
          <p:cNvPr id="27" name="Text 21"/>
          <p:cNvSpPr/>
          <p:nvPr/>
        </p:nvSpPr>
        <p:spPr>
          <a:xfrm>
            <a:off x="777240" y="4820681"/>
            <a:ext cx="3063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C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Readings are classified as Poor / Fair / Good / Excellent, shown on the OLED.</a:t>
            </a:r>
            <a:endParaRPr lang="en-US" sz="1150" dirty="0"/>
          </a:p>
        </p:txBody>
      </p:sp>
      <p:sp>
        <p:nvSpPr>
          <p:cNvPr id="28" name="Shape 22"/>
          <p:cNvSpPr/>
          <p:nvPr/>
        </p:nvSpPr>
        <p:spPr>
          <a:xfrm>
            <a:off x="4297680" y="3613673"/>
            <a:ext cx="3520440" cy="2286000"/>
          </a:xfrm>
          <a:prstGeom prst="roundRect">
            <a:avLst>
              <a:gd name="adj" fmla="val 2800"/>
            </a:avLst>
          </a:prstGeom>
          <a:solidFill>
            <a:srgbClr val="EAF3F6"/>
          </a:solidFill>
          <a:ln>
            <a:solidFill>
              <a:schemeClr val="tx1"/>
            </a:solidFill>
          </a:ln>
        </p:spPr>
      </p:sp>
      <p:sp>
        <p:nvSpPr>
          <p:cNvPr id="29" name="Shape 23"/>
          <p:cNvSpPr/>
          <p:nvPr/>
        </p:nvSpPr>
        <p:spPr>
          <a:xfrm>
            <a:off x="4526280" y="3842273"/>
            <a:ext cx="457200" cy="457200"/>
          </a:xfrm>
          <a:prstGeom prst="ellipse">
            <a:avLst/>
          </a:prstGeom>
          <a:solidFill>
            <a:srgbClr val="21295C"/>
          </a:solidFill>
          <a:ln/>
        </p:spPr>
      </p:sp>
      <p:sp>
        <p:nvSpPr>
          <p:cNvPr id="30" name="Text 24"/>
          <p:cNvSpPr/>
          <p:nvPr/>
        </p:nvSpPr>
        <p:spPr>
          <a:xfrm>
            <a:off x="4526280" y="3842273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32" name="Text 25"/>
          <p:cNvSpPr/>
          <p:nvPr/>
        </p:nvSpPr>
        <p:spPr>
          <a:xfrm>
            <a:off x="4526280" y="4436633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Debounce check</a:t>
            </a:r>
            <a:endParaRPr lang="en-US" sz="1450" dirty="0"/>
          </a:p>
        </p:txBody>
      </p:sp>
      <p:sp>
        <p:nvSpPr>
          <p:cNvPr id="33" name="Text 26"/>
          <p:cNvSpPr/>
          <p:nvPr/>
        </p:nvSpPr>
        <p:spPr>
          <a:xfrm>
            <a:off x="4526280" y="4820681"/>
            <a:ext cx="3063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C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issue must repeat for 3 consecutive cycles — filters out one-off noise spikes.</a:t>
            </a:r>
            <a:endParaRPr lang="en-US" sz="1150" dirty="0"/>
          </a:p>
        </p:txBody>
      </p:sp>
      <p:sp>
        <p:nvSpPr>
          <p:cNvPr id="34" name="Shape 27"/>
          <p:cNvSpPr/>
          <p:nvPr/>
        </p:nvSpPr>
        <p:spPr>
          <a:xfrm>
            <a:off x="8046720" y="3613673"/>
            <a:ext cx="3520440" cy="2286000"/>
          </a:xfrm>
          <a:prstGeom prst="roundRect">
            <a:avLst>
              <a:gd name="adj" fmla="val 2800"/>
            </a:avLst>
          </a:prstGeom>
          <a:solidFill>
            <a:srgbClr val="EAF3F6"/>
          </a:solidFill>
          <a:ln>
            <a:solidFill>
              <a:schemeClr val="tx1"/>
            </a:solidFill>
          </a:ln>
        </p:spPr>
      </p:sp>
      <p:sp>
        <p:nvSpPr>
          <p:cNvPr id="35" name="Shape 28"/>
          <p:cNvSpPr/>
          <p:nvPr/>
        </p:nvSpPr>
        <p:spPr>
          <a:xfrm>
            <a:off x="8275320" y="3842273"/>
            <a:ext cx="457200" cy="457200"/>
          </a:xfrm>
          <a:prstGeom prst="ellipse">
            <a:avLst/>
          </a:prstGeom>
          <a:solidFill>
            <a:srgbClr val="21295C"/>
          </a:solidFill>
          <a:ln/>
        </p:spPr>
      </p:sp>
      <p:sp>
        <p:nvSpPr>
          <p:cNvPr id="36" name="Text 29"/>
          <p:cNvSpPr/>
          <p:nvPr/>
        </p:nvSpPr>
        <p:spPr>
          <a:xfrm>
            <a:off x="8275320" y="3842273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38" name="Text 30"/>
          <p:cNvSpPr/>
          <p:nvPr/>
        </p:nvSpPr>
        <p:spPr>
          <a:xfrm>
            <a:off x="8275320" y="4436633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 via SMS</a:t>
            </a:r>
            <a:endParaRPr lang="en-US" sz="1450" dirty="0"/>
          </a:p>
        </p:txBody>
      </p:sp>
      <p:sp>
        <p:nvSpPr>
          <p:cNvPr id="39" name="Text 31"/>
          <p:cNvSpPr/>
          <p:nvPr/>
        </p:nvSpPr>
        <p:spPr>
          <a:xfrm>
            <a:off x="8275320" y="4820681"/>
            <a:ext cx="3063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C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GSM module texts the user; a cooldown timer stops repeat spam alerts.</a:t>
            </a:r>
            <a:endParaRPr lang="en-US" sz="1150" dirty="0"/>
          </a:p>
        </p:txBody>
      </p:sp>
      <p:sp>
        <p:nvSpPr>
          <p:cNvPr id="42" name="Text 18">
            <a:extLst>
              <a:ext uri="{FF2B5EF4-FFF2-40B4-BE49-F238E27FC236}">
                <a16:creationId xmlns:a16="http://schemas.microsoft.com/office/drawing/2014/main" id="{8E6FF6EE-FF43-4336-BD45-BB591EC02319}"/>
              </a:ext>
            </a:extLst>
          </p:cNvPr>
          <p:cNvSpPr/>
          <p:nvPr/>
        </p:nvSpPr>
        <p:spPr>
          <a:xfrm>
            <a:off x="11127737" y="6217921"/>
            <a:ext cx="728263" cy="361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5C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AquaTracker</a:t>
            </a:r>
            <a:endParaRPr lang="en-US" sz="1000" dirty="0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2D8E3B52-442C-45EC-8896-2AE8105C514D}"/>
              </a:ext>
            </a:extLst>
          </p:cNvPr>
          <p:cNvSpPr/>
          <p:nvPr/>
        </p:nvSpPr>
        <p:spPr>
          <a:xfrm>
            <a:off x="336000" y="279000"/>
            <a:ext cx="11520000" cy="6300000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Sensor Accuracy: Calibration Formulas Used</a:t>
            </a:r>
            <a:endParaRPr lang="en-US" sz="30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64240" cy="4663440"/>
        </p:xfrm>
        <a:graphic>
          <a:graphicData uri="http://schemas.openxmlformats.org/drawingml/2006/table">
            <a:tbl>
              <a:tblPr/>
              <a:tblGrid>
                <a:gridCol w="2103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06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7548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7772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Reading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73152" marB="73152" anchor="ctr">
                    <a:lnL w="9525" cap="flat" cmpd="sng" algn="ctr">
                      <a:solidFill>
                        <a:srgbClr val="D6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Formula / Method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73152" marB="73152" anchor="ctr">
                    <a:lnL w="9525" cap="flat" cmpd="sng" algn="ctr">
                      <a:solidFill>
                        <a:srgbClr val="D6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Why it matters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73152" marB="73152" anchor="ctr">
                    <a:lnL w="9525" cap="flat" cmpd="sng" algn="ctr">
                      <a:solidFill>
                        <a:srgbClr val="D6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772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73152" marB="73152" anchor="ctr">
                    <a:lnL w="9525" cap="flat" cmpd="sng" algn="ctr">
                      <a:solidFill>
                        <a:srgbClr val="D6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B5E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2-point buffer calibration: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B5E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 = slope × (V − V₇) + 7.0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73152" marB="73152" anchor="ctr">
                    <a:lnL w="9525" cap="flat" cmpd="sng" algn="ctr">
                      <a:solidFill>
                        <a:srgbClr val="D6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B5E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Matches the probe to real pH 4/7 buffer solutions for lab-accurate readings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73152" marB="73152" anchor="ctr">
                    <a:lnL w="9525" cap="flat" cmpd="sng" algn="ctr">
                      <a:solidFill>
                        <a:srgbClr val="D6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772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Temperature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73152" marB="73152" anchor="ctr">
                    <a:lnL w="9525" cap="flat" cmpd="sng" algn="ctr">
                      <a:solidFill>
                        <a:srgbClr val="D6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B5E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Steinhart-Hart thermistor equation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B5E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(NTC physics model)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73152" marB="73152" anchor="ctr">
                    <a:lnL w="9525" cap="flat" cmpd="sng" algn="ctr">
                      <a:solidFill>
                        <a:srgbClr val="D6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B5E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Converts resistance to temperature with real thermal physics, not a guess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73152" marB="73152" anchor="ctr">
                    <a:lnL w="9525" cap="flat" cmpd="sng" algn="ctr">
                      <a:solidFill>
                        <a:srgbClr val="D6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772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Turbidity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73152" marB="73152" anchor="ctr">
                    <a:lnL w="9525" cap="flat" cmpd="sng" algn="ctr">
                      <a:solidFill>
                        <a:srgbClr val="D6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B5E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Voltage → NTU polynomial: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B5E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NTU = aV² + bV + c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73152" marB="73152" anchor="ctr">
                    <a:lnL w="9525" cap="flat" cmpd="sng" algn="ctr">
                      <a:solidFill>
                        <a:srgbClr val="D6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B5E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Matches the sensor's true non-linear response curve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73152" marB="73152" anchor="ctr">
                    <a:lnL w="9525" cap="flat" cmpd="sng" algn="ctr">
                      <a:solidFill>
                        <a:srgbClr val="D6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772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Water level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73152" marB="73152" anchor="ctr">
                    <a:lnL w="9525" cap="flat" cmpd="sng" algn="ctr">
                      <a:solidFill>
                        <a:srgbClr val="D6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B5E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Median-of-5 filter + temperature-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B5E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compensated speed of sound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73152" marB="73152" anchor="ctr">
                    <a:lnL w="9525" cap="flat" cmpd="sng" algn="ctr">
                      <a:solidFill>
                        <a:srgbClr val="D6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B5E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Removes echo noise and adjusts for how temperature affects sound speed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73152" marB="73152" anchor="ctr">
                    <a:lnL w="9525" cap="flat" cmpd="sng" algn="ctr">
                      <a:solidFill>
                        <a:srgbClr val="D6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772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Quality bands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73152" marB="73152" anchor="ctr">
                    <a:lnL w="9525" cap="flat" cmpd="sng" algn="ctr">
                      <a:solidFill>
                        <a:srgbClr val="D6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B5E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Contiguous Poor / Fair / Good /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B5E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Excellent thresholds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73152" marB="73152" anchor="ctr">
                    <a:lnL w="9525" cap="flat" cmpd="sng" algn="ctr">
                      <a:solidFill>
                        <a:srgbClr val="D6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B5E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Every reading maps cleanly to one clear quality category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73152" marB="73152" anchor="ctr">
                    <a:lnL w="9525" cap="flat" cmpd="sng" algn="ctr">
                      <a:solidFill>
                        <a:srgbClr val="D6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7" name="Text 18">
            <a:extLst>
              <a:ext uri="{FF2B5EF4-FFF2-40B4-BE49-F238E27FC236}">
                <a16:creationId xmlns:a16="http://schemas.microsoft.com/office/drawing/2014/main" id="{74E628C2-D207-4B3C-A463-0967DE7A89C0}"/>
              </a:ext>
            </a:extLst>
          </p:cNvPr>
          <p:cNvSpPr/>
          <p:nvPr/>
        </p:nvSpPr>
        <p:spPr>
          <a:xfrm>
            <a:off x="11127737" y="6217921"/>
            <a:ext cx="728263" cy="361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5C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AquaTracker</a:t>
            </a:r>
            <a:endParaRPr lang="en-US" sz="100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5B1563F-971E-4A29-8488-FAFCF5B54FFC}"/>
              </a:ext>
            </a:extLst>
          </p:cNvPr>
          <p:cNvSpPr/>
          <p:nvPr/>
        </p:nvSpPr>
        <p:spPr>
          <a:xfrm>
            <a:off x="336000" y="279000"/>
            <a:ext cx="11520000" cy="6300000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Reliability &amp; Alert Features</a:t>
            </a:r>
            <a:endParaRPr lang="en-US" sz="3000" dirty="0"/>
          </a:p>
        </p:txBody>
      </p:sp>
      <p:grpSp>
        <p:nvGrpSpPr>
          <p:cNvPr id="36" name="Group 35">
            <a:extLst>
              <a:ext uri="{FF2B5EF4-FFF2-40B4-BE49-F238E27FC236}">
                <a16:creationId xmlns:a16="http://schemas.microsoft.com/office/drawing/2014/main" id="{5DDA395E-AF5F-4906-B4F0-A6068EBD1724}"/>
              </a:ext>
            </a:extLst>
          </p:cNvPr>
          <p:cNvGrpSpPr/>
          <p:nvPr/>
        </p:nvGrpSpPr>
        <p:grpSpPr>
          <a:xfrm>
            <a:off x="1863516" y="1154573"/>
            <a:ext cx="8464969" cy="4878671"/>
            <a:chOff x="548640" y="1554480"/>
            <a:chExt cx="11155680" cy="6858000"/>
          </a:xfrm>
        </p:grpSpPr>
        <p:sp>
          <p:nvSpPr>
            <p:cNvPr id="4" name="Shape 2"/>
            <p:cNvSpPr/>
            <p:nvPr/>
          </p:nvSpPr>
          <p:spPr>
            <a:xfrm>
              <a:off x="548640" y="1554480"/>
              <a:ext cx="5349240" cy="2103120"/>
            </a:xfrm>
            <a:prstGeom prst="roundRect">
              <a:avLst>
                <a:gd name="adj" fmla="val 3478"/>
              </a:avLst>
            </a:prstGeom>
            <a:solidFill>
              <a:srgbClr val="EAF3F6"/>
            </a:solidFill>
            <a:ln/>
          </p:spPr>
        </p:sp>
        <p:sp>
          <p:nvSpPr>
            <p:cNvPr id="5" name="Shape 3"/>
            <p:cNvSpPr/>
            <p:nvPr/>
          </p:nvSpPr>
          <p:spPr>
            <a:xfrm>
              <a:off x="804672" y="1810512"/>
              <a:ext cx="502920" cy="502920"/>
            </a:xfrm>
            <a:prstGeom prst="ellipse">
              <a:avLst/>
            </a:prstGeom>
            <a:solidFill>
              <a:srgbClr val="065A82"/>
            </a:solidFill>
            <a:ln/>
          </p:spPr>
        </p:sp>
        <p:pic>
          <p:nvPicPr>
            <p:cNvPr id="6" name="Image 0" descr="/home/claude/aquatracker/icons/cogs_FFFFFF.png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923544" y="1929384"/>
              <a:ext cx="265176" cy="265176"/>
            </a:xfrm>
            <a:prstGeom prst="rect">
              <a:avLst/>
            </a:prstGeom>
          </p:spPr>
        </p:pic>
        <p:sp>
          <p:nvSpPr>
            <p:cNvPr id="7" name="Text 4"/>
            <p:cNvSpPr/>
            <p:nvPr/>
          </p:nvSpPr>
          <p:spPr>
            <a:xfrm>
              <a:off x="1463040" y="1783080"/>
              <a:ext cx="4251960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450" b="1" dirty="0">
                  <a:solidFill>
                    <a:srgbClr val="12263A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Non-blocking operation</a:t>
              </a:r>
              <a:endParaRPr lang="en-US" sz="1450" dirty="0"/>
            </a:p>
          </p:txBody>
        </p:sp>
        <p:sp>
          <p:nvSpPr>
            <p:cNvPr id="8" name="Text 5"/>
            <p:cNvSpPr/>
            <p:nvPr/>
          </p:nvSpPr>
          <p:spPr>
            <a:xfrm>
              <a:off x="804672" y="2423160"/>
              <a:ext cx="4837176" cy="10972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lnSpc>
                  <a:spcPct val="115000"/>
                </a:lnSpc>
                <a:buNone/>
              </a:pPr>
              <a:r>
                <a:rPr lang="en-US" sz="1180" dirty="0">
                  <a:solidFill>
                    <a:srgbClr val="5C7A8A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Sensor readings and GSM call handling run on independent timers, so an incoming call is never missed.</a:t>
              </a:r>
              <a:endParaRPr lang="en-US" sz="1180" dirty="0"/>
            </a:p>
          </p:txBody>
        </p:sp>
        <p:sp>
          <p:nvSpPr>
            <p:cNvPr id="9" name="Shape 6"/>
            <p:cNvSpPr/>
            <p:nvPr/>
          </p:nvSpPr>
          <p:spPr>
            <a:xfrm>
              <a:off x="6355080" y="1554480"/>
              <a:ext cx="5349240" cy="2103120"/>
            </a:xfrm>
            <a:prstGeom prst="roundRect">
              <a:avLst>
                <a:gd name="adj" fmla="val 3478"/>
              </a:avLst>
            </a:prstGeom>
            <a:solidFill>
              <a:srgbClr val="EAF3F6"/>
            </a:solidFill>
            <a:ln/>
          </p:spPr>
        </p:sp>
        <p:sp>
          <p:nvSpPr>
            <p:cNvPr id="10" name="Shape 7"/>
            <p:cNvSpPr/>
            <p:nvPr/>
          </p:nvSpPr>
          <p:spPr>
            <a:xfrm>
              <a:off x="6611112" y="1810512"/>
              <a:ext cx="502920" cy="502920"/>
            </a:xfrm>
            <a:prstGeom prst="ellipse">
              <a:avLst/>
            </a:prstGeom>
            <a:solidFill>
              <a:srgbClr val="065A82"/>
            </a:solidFill>
            <a:ln/>
          </p:spPr>
        </p:sp>
        <p:pic>
          <p:nvPicPr>
            <p:cNvPr id="11" name="Image 1" descr="/home/claude/aquatracker/icons/bell_FFFFFF.png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729984" y="1929384"/>
              <a:ext cx="265176" cy="265176"/>
            </a:xfrm>
            <a:prstGeom prst="rect">
              <a:avLst/>
            </a:prstGeom>
          </p:spPr>
        </p:pic>
        <p:sp>
          <p:nvSpPr>
            <p:cNvPr id="12" name="Text 8"/>
            <p:cNvSpPr/>
            <p:nvPr/>
          </p:nvSpPr>
          <p:spPr>
            <a:xfrm>
              <a:off x="7269480" y="1783080"/>
              <a:ext cx="4251960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450" b="1" dirty="0">
                  <a:solidFill>
                    <a:srgbClr val="12263A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Debounced alerts</a:t>
              </a:r>
              <a:endParaRPr lang="en-US" sz="1450" dirty="0"/>
            </a:p>
          </p:txBody>
        </p:sp>
        <p:sp>
          <p:nvSpPr>
            <p:cNvPr id="13" name="Text 9"/>
            <p:cNvSpPr/>
            <p:nvPr/>
          </p:nvSpPr>
          <p:spPr>
            <a:xfrm>
              <a:off x="6611112" y="2423160"/>
              <a:ext cx="4837176" cy="10972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lnSpc>
                  <a:spcPct val="115000"/>
                </a:lnSpc>
                <a:buNone/>
              </a:pPr>
              <a:r>
                <a:rPr lang="en-US" sz="1180" dirty="0">
                  <a:solidFill>
                    <a:srgbClr val="5C7A8A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An issue must show up for 3 consecutive readings before triggering an SMS — filters out one-off sensor noise.</a:t>
              </a:r>
              <a:endParaRPr lang="en-US" sz="1180" dirty="0"/>
            </a:p>
          </p:txBody>
        </p:sp>
        <p:sp>
          <p:nvSpPr>
            <p:cNvPr id="14" name="Shape 10"/>
            <p:cNvSpPr/>
            <p:nvPr/>
          </p:nvSpPr>
          <p:spPr>
            <a:xfrm>
              <a:off x="548640" y="3931920"/>
              <a:ext cx="5349240" cy="2103120"/>
            </a:xfrm>
            <a:prstGeom prst="roundRect">
              <a:avLst>
                <a:gd name="adj" fmla="val 3478"/>
              </a:avLst>
            </a:prstGeom>
            <a:solidFill>
              <a:srgbClr val="EAF3F6"/>
            </a:solidFill>
            <a:ln/>
          </p:spPr>
        </p:sp>
        <p:sp>
          <p:nvSpPr>
            <p:cNvPr id="15" name="Shape 11"/>
            <p:cNvSpPr/>
            <p:nvPr/>
          </p:nvSpPr>
          <p:spPr>
            <a:xfrm>
              <a:off x="804672" y="4187952"/>
              <a:ext cx="502920" cy="502920"/>
            </a:xfrm>
            <a:prstGeom prst="ellipse">
              <a:avLst/>
            </a:prstGeom>
            <a:solidFill>
              <a:srgbClr val="065A82"/>
            </a:solidFill>
            <a:ln/>
          </p:spPr>
        </p:sp>
        <p:pic>
          <p:nvPicPr>
            <p:cNvPr id="16" name="Image 2" descr="/home/claude/aquatracker/icons/clock_FFFFFF.png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923544" y="4306824"/>
              <a:ext cx="265176" cy="265176"/>
            </a:xfrm>
            <a:prstGeom prst="rect">
              <a:avLst/>
            </a:prstGeom>
          </p:spPr>
        </p:pic>
        <p:sp>
          <p:nvSpPr>
            <p:cNvPr id="17" name="Text 12"/>
            <p:cNvSpPr/>
            <p:nvPr/>
          </p:nvSpPr>
          <p:spPr>
            <a:xfrm>
              <a:off x="1463040" y="4160520"/>
              <a:ext cx="4251960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450" b="1" dirty="0">
                  <a:solidFill>
                    <a:srgbClr val="12263A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SMS cooldown timer</a:t>
              </a:r>
              <a:endParaRPr lang="en-US" sz="1450" dirty="0"/>
            </a:p>
          </p:txBody>
        </p:sp>
        <p:sp>
          <p:nvSpPr>
            <p:cNvPr id="18" name="Text 13"/>
            <p:cNvSpPr/>
            <p:nvPr/>
          </p:nvSpPr>
          <p:spPr>
            <a:xfrm>
              <a:off x="804672" y="4800600"/>
              <a:ext cx="4837176" cy="10972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lnSpc>
                  <a:spcPct val="115000"/>
                </a:lnSpc>
                <a:buNone/>
              </a:pPr>
              <a:r>
                <a:rPr lang="en-US" sz="1180" dirty="0">
                  <a:solidFill>
                    <a:srgbClr val="5C7A8A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A 15-minute cooldown between alerts prevents the system from repeatedly spamming the same warning.</a:t>
              </a:r>
              <a:endParaRPr lang="en-US" sz="1180" dirty="0"/>
            </a:p>
          </p:txBody>
        </p:sp>
        <p:sp>
          <p:nvSpPr>
            <p:cNvPr id="19" name="Shape 14"/>
            <p:cNvSpPr/>
            <p:nvPr/>
          </p:nvSpPr>
          <p:spPr>
            <a:xfrm>
              <a:off x="6355080" y="3931921"/>
              <a:ext cx="5349240" cy="2103120"/>
            </a:xfrm>
            <a:prstGeom prst="roundRect">
              <a:avLst>
                <a:gd name="adj" fmla="val 3478"/>
              </a:avLst>
            </a:prstGeom>
            <a:solidFill>
              <a:srgbClr val="EAF3F6"/>
            </a:solidFill>
            <a:ln/>
          </p:spPr>
        </p:sp>
        <p:sp>
          <p:nvSpPr>
            <p:cNvPr id="20" name="Shape 15"/>
            <p:cNvSpPr/>
            <p:nvPr/>
          </p:nvSpPr>
          <p:spPr>
            <a:xfrm>
              <a:off x="6611112" y="4187952"/>
              <a:ext cx="502920" cy="502920"/>
            </a:xfrm>
            <a:prstGeom prst="ellipse">
              <a:avLst/>
            </a:prstGeom>
            <a:solidFill>
              <a:srgbClr val="065A82"/>
            </a:solidFill>
            <a:ln/>
          </p:spPr>
        </p:sp>
        <p:pic>
          <p:nvPicPr>
            <p:cNvPr id="21" name="Image 3" descr="/home/claude/aquatracker/icons/battery_FFFFFF.png"/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6729984" y="4306824"/>
              <a:ext cx="265176" cy="265176"/>
            </a:xfrm>
            <a:prstGeom prst="rect">
              <a:avLst/>
            </a:prstGeom>
          </p:spPr>
        </p:pic>
        <p:sp>
          <p:nvSpPr>
            <p:cNvPr id="22" name="Text 16"/>
            <p:cNvSpPr/>
            <p:nvPr/>
          </p:nvSpPr>
          <p:spPr>
            <a:xfrm>
              <a:off x="7269480" y="4160520"/>
              <a:ext cx="4251960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450" b="1" dirty="0">
                  <a:solidFill>
                    <a:srgbClr val="12263A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Battery/solar monitoring</a:t>
              </a:r>
              <a:endParaRPr lang="en-US" sz="1450" dirty="0"/>
            </a:p>
          </p:txBody>
        </p:sp>
        <p:sp>
          <p:nvSpPr>
            <p:cNvPr id="23" name="Text 17"/>
            <p:cNvSpPr/>
            <p:nvPr/>
          </p:nvSpPr>
          <p:spPr>
            <a:xfrm>
              <a:off x="6611112" y="4800600"/>
              <a:ext cx="4837176" cy="10972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lnSpc>
                  <a:spcPct val="115000"/>
                </a:lnSpc>
                <a:buNone/>
              </a:pPr>
              <a:r>
                <a:rPr lang="en-US" sz="1180" dirty="0">
                  <a:solidFill>
                    <a:srgbClr val="5C7A8A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A voltage-divider reading on the 12V line means low charge is itself an SMS-worthy alert.</a:t>
              </a:r>
              <a:endParaRPr lang="en-US" sz="1180" dirty="0"/>
            </a:p>
          </p:txBody>
        </p:sp>
        <p:sp>
          <p:nvSpPr>
            <p:cNvPr id="24" name="Shape 18"/>
            <p:cNvSpPr/>
            <p:nvPr/>
          </p:nvSpPr>
          <p:spPr>
            <a:xfrm>
              <a:off x="548640" y="6309360"/>
              <a:ext cx="5349240" cy="2103120"/>
            </a:xfrm>
            <a:prstGeom prst="roundRect">
              <a:avLst>
                <a:gd name="adj" fmla="val 3478"/>
              </a:avLst>
            </a:prstGeom>
            <a:solidFill>
              <a:srgbClr val="EAF3F6"/>
            </a:solidFill>
            <a:ln/>
          </p:spPr>
        </p:sp>
        <p:sp>
          <p:nvSpPr>
            <p:cNvPr id="25" name="Shape 19"/>
            <p:cNvSpPr/>
            <p:nvPr/>
          </p:nvSpPr>
          <p:spPr>
            <a:xfrm>
              <a:off x="804672" y="6565392"/>
              <a:ext cx="502920" cy="502920"/>
            </a:xfrm>
            <a:prstGeom prst="ellipse">
              <a:avLst/>
            </a:prstGeom>
            <a:solidFill>
              <a:srgbClr val="065A82"/>
            </a:solidFill>
            <a:ln/>
          </p:spPr>
        </p:sp>
        <p:pic>
          <p:nvPicPr>
            <p:cNvPr id="26" name="Image 4" descr="/home/claude/aquatracker/icons/chartbar_FFFFFF.png"/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923544" y="6684264"/>
              <a:ext cx="265176" cy="265176"/>
            </a:xfrm>
            <a:prstGeom prst="rect">
              <a:avLst/>
            </a:prstGeom>
          </p:spPr>
        </p:pic>
        <p:sp>
          <p:nvSpPr>
            <p:cNvPr id="27" name="Text 20"/>
            <p:cNvSpPr/>
            <p:nvPr/>
          </p:nvSpPr>
          <p:spPr>
            <a:xfrm>
              <a:off x="1463040" y="6537960"/>
              <a:ext cx="4251960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450" b="1" dirty="0">
                  <a:solidFill>
                    <a:srgbClr val="12263A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Median filtering</a:t>
              </a:r>
              <a:endParaRPr lang="en-US" sz="1450" dirty="0"/>
            </a:p>
          </p:txBody>
        </p:sp>
        <p:sp>
          <p:nvSpPr>
            <p:cNvPr id="28" name="Text 21"/>
            <p:cNvSpPr/>
            <p:nvPr/>
          </p:nvSpPr>
          <p:spPr>
            <a:xfrm>
              <a:off x="804672" y="7178040"/>
              <a:ext cx="4837176" cy="10972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lnSpc>
                  <a:spcPct val="115000"/>
                </a:lnSpc>
                <a:buNone/>
              </a:pPr>
              <a:r>
                <a:rPr lang="en-US" sz="1180" dirty="0">
                  <a:solidFill>
                    <a:srgbClr val="5C7A8A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Every analog and ultrasonic reading is median-filtered to reject single-sample spikes before it's used.</a:t>
              </a:r>
              <a:endParaRPr lang="en-US" sz="1180" dirty="0"/>
            </a:p>
          </p:txBody>
        </p:sp>
        <p:sp>
          <p:nvSpPr>
            <p:cNvPr id="29" name="Shape 22"/>
            <p:cNvSpPr/>
            <p:nvPr/>
          </p:nvSpPr>
          <p:spPr>
            <a:xfrm>
              <a:off x="6355080" y="6309360"/>
              <a:ext cx="5349240" cy="2103120"/>
            </a:xfrm>
            <a:prstGeom prst="roundRect">
              <a:avLst>
                <a:gd name="adj" fmla="val 3478"/>
              </a:avLst>
            </a:prstGeom>
            <a:solidFill>
              <a:srgbClr val="EAF3F6"/>
            </a:solidFill>
            <a:ln/>
          </p:spPr>
        </p:sp>
        <p:sp>
          <p:nvSpPr>
            <p:cNvPr id="30" name="Shape 23"/>
            <p:cNvSpPr/>
            <p:nvPr/>
          </p:nvSpPr>
          <p:spPr>
            <a:xfrm>
              <a:off x="6611112" y="6565392"/>
              <a:ext cx="502920" cy="502920"/>
            </a:xfrm>
            <a:prstGeom prst="ellipse">
              <a:avLst/>
            </a:prstGeom>
            <a:solidFill>
              <a:srgbClr val="065A82"/>
            </a:solidFill>
            <a:ln/>
          </p:spPr>
        </p:sp>
        <p:pic>
          <p:nvPicPr>
            <p:cNvPr id="31" name="Image 5" descr="/home/claude/aquatracker/icons/check_FFFFFF.png"/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6729984" y="6684264"/>
              <a:ext cx="265176" cy="265176"/>
            </a:xfrm>
            <a:prstGeom prst="rect">
              <a:avLst/>
            </a:prstGeom>
          </p:spPr>
        </p:pic>
        <p:sp>
          <p:nvSpPr>
            <p:cNvPr id="32" name="Text 24"/>
            <p:cNvSpPr/>
            <p:nvPr/>
          </p:nvSpPr>
          <p:spPr>
            <a:xfrm>
              <a:off x="7269480" y="6537960"/>
              <a:ext cx="4251960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450" b="1" dirty="0">
                  <a:solidFill>
                    <a:srgbClr val="12263A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Clear quality classification</a:t>
              </a:r>
              <a:endParaRPr lang="en-US" sz="1450" dirty="0"/>
            </a:p>
          </p:txBody>
        </p:sp>
        <p:sp>
          <p:nvSpPr>
            <p:cNvPr id="33" name="Text 25"/>
            <p:cNvSpPr/>
            <p:nvPr/>
          </p:nvSpPr>
          <p:spPr>
            <a:xfrm>
              <a:off x="6611112" y="7178040"/>
              <a:ext cx="4837176" cy="10972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lnSpc>
                  <a:spcPct val="115000"/>
                </a:lnSpc>
                <a:buNone/>
              </a:pPr>
              <a:r>
                <a:rPr lang="en-US" sz="1180" dirty="0">
                  <a:solidFill>
                    <a:srgbClr val="5C7A8A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Readings map to well-defined Poor / Fair / Good / Excellent bands with no ambiguous overlap.</a:t>
              </a:r>
              <a:endParaRPr lang="en-US" sz="1180" dirty="0"/>
            </a:p>
          </p:txBody>
        </p:sp>
      </p:grpSp>
      <p:sp>
        <p:nvSpPr>
          <p:cNvPr id="39" name="Text 18">
            <a:extLst>
              <a:ext uri="{FF2B5EF4-FFF2-40B4-BE49-F238E27FC236}">
                <a16:creationId xmlns:a16="http://schemas.microsoft.com/office/drawing/2014/main" id="{ECEB30FF-98EF-4442-AC16-A48425DEAFDD}"/>
              </a:ext>
            </a:extLst>
          </p:cNvPr>
          <p:cNvSpPr/>
          <p:nvPr/>
        </p:nvSpPr>
        <p:spPr>
          <a:xfrm>
            <a:off x="11127737" y="6217921"/>
            <a:ext cx="728263" cy="361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5C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AquaTracker</a:t>
            </a:r>
            <a:endParaRPr lang="en-US" sz="1000" dirty="0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2D158FE4-D477-4617-9FDB-4FD2668CEAF5}"/>
              </a:ext>
            </a:extLst>
          </p:cNvPr>
          <p:cNvSpPr/>
          <p:nvPr/>
        </p:nvSpPr>
        <p:spPr>
          <a:xfrm>
            <a:off x="336000" y="279000"/>
            <a:ext cx="11520000" cy="6300000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Results &amp; Future Scope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772760" y="1312433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Advantages Achieved</a:t>
            </a:r>
            <a:endParaRPr lang="en-US" sz="1600" dirty="0"/>
          </a:p>
        </p:txBody>
      </p:sp>
      <p:pic>
        <p:nvPicPr>
          <p:cNvPr id="5" name="Image 0" descr="/home/claude/aquatracker/icons/check_1C729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760" y="1883933"/>
            <a:ext cx="256032" cy="25603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184240" y="1714769"/>
            <a:ext cx="4983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Calibrated, real-world-accurate pH, temperature and turbidity readings</a:t>
            </a:r>
            <a:endParaRPr lang="en-US" sz="1250" dirty="0"/>
          </a:p>
        </p:txBody>
      </p:sp>
      <p:pic>
        <p:nvPicPr>
          <p:cNvPr id="7" name="Image 1" descr="/home/claude/aquatracker/icons/check_1C729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760" y="2661173"/>
            <a:ext cx="256032" cy="256032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184240" y="2492009"/>
            <a:ext cx="4983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Fewer false SMS alerts thanks to debouncing and cooldown timing</a:t>
            </a:r>
            <a:endParaRPr lang="en-US" sz="1250" dirty="0"/>
          </a:p>
        </p:txBody>
      </p:sp>
      <p:pic>
        <p:nvPicPr>
          <p:cNvPr id="9" name="Image 2" descr="/home/claude/aquatracker/icons/check_1C729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760" y="3438413"/>
            <a:ext cx="256032" cy="256032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1184240" y="3269249"/>
            <a:ext cx="4983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Fully solar powered — deployable anywhere with GSM signal</a:t>
            </a:r>
            <a:endParaRPr lang="en-US" sz="1250" dirty="0"/>
          </a:p>
        </p:txBody>
      </p:sp>
      <p:pic>
        <p:nvPicPr>
          <p:cNvPr id="11" name="Image 3" descr="/home/claude/aquatracker/icons/check_1C729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760" y="4215653"/>
            <a:ext cx="256032" cy="256032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1184240" y="4046489"/>
            <a:ext cx="4983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Low-cost, replicable hardware built entirely on Arduino UNO</a:t>
            </a:r>
            <a:endParaRPr lang="en-US" sz="1250" dirty="0"/>
          </a:p>
        </p:txBody>
      </p:sp>
      <p:sp>
        <p:nvSpPr>
          <p:cNvPr id="13" name="Shape 7"/>
          <p:cNvSpPr/>
          <p:nvPr/>
        </p:nvSpPr>
        <p:spPr>
          <a:xfrm>
            <a:off x="5968700" y="1259538"/>
            <a:ext cx="0" cy="4572000"/>
          </a:xfrm>
          <a:prstGeom prst="line">
            <a:avLst/>
          </a:prstGeom>
          <a:noFill/>
          <a:ln w="12700">
            <a:solidFill>
              <a:srgbClr val="D6E4EA"/>
            </a:solidFill>
            <a:prstDash val="solid"/>
          </a:ln>
        </p:spPr>
      </p:sp>
      <p:sp>
        <p:nvSpPr>
          <p:cNvPr id="14" name="Text 8"/>
          <p:cNvSpPr/>
          <p:nvPr/>
        </p:nvSpPr>
        <p:spPr>
          <a:xfrm>
            <a:off x="6413351" y="1312433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Scope</a:t>
            </a:r>
            <a:endParaRPr lang="en-US" sz="1600" dirty="0"/>
          </a:p>
        </p:txBody>
      </p:sp>
      <p:pic>
        <p:nvPicPr>
          <p:cNvPr id="15" name="Image 4" descr="/home/claude/aquatracker/icons/wrench_1C729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13351" y="1883933"/>
            <a:ext cx="256032" cy="256032"/>
          </a:xfrm>
          <a:prstGeom prst="rect">
            <a:avLst/>
          </a:prstGeom>
        </p:spPr>
      </p:pic>
      <p:sp>
        <p:nvSpPr>
          <p:cNvPr id="16" name="Text 9"/>
          <p:cNvSpPr/>
          <p:nvPr/>
        </p:nvSpPr>
        <p:spPr>
          <a:xfrm>
            <a:off x="6824831" y="1714769"/>
            <a:ext cx="4480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EEPROM-stored calibration so pH/turbidity constants persist across power cycles</a:t>
            </a:r>
            <a:endParaRPr lang="en-US" sz="1250" dirty="0"/>
          </a:p>
        </p:txBody>
      </p:sp>
      <p:pic>
        <p:nvPicPr>
          <p:cNvPr id="17" name="Image 5" descr="/home/claude/aquatracker/icons/wrench_1C729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13351" y="2661173"/>
            <a:ext cx="256032" cy="256032"/>
          </a:xfrm>
          <a:prstGeom prst="rect">
            <a:avLst/>
          </a:prstGeom>
        </p:spPr>
      </p:pic>
      <p:sp>
        <p:nvSpPr>
          <p:cNvPr id="18" name="Text 10"/>
          <p:cNvSpPr/>
          <p:nvPr/>
        </p:nvSpPr>
        <p:spPr>
          <a:xfrm>
            <a:off x="6824831" y="2492009"/>
            <a:ext cx="4480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dashboard (via GSM GPRS/NB-IoT) alongside SMS for historical trends</a:t>
            </a:r>
            <a:endParaRPr lang="en-US" sz="1250" dirty="0"/>
          </a:p>
        </p:txBody>
      </p:sp>
      <p:pic>
        <p:nvPicPr>
          <p:cNvPr id="19" name="Image 6" descr="/home/claude/aquatracker/icons/wrench_1C729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13351" y="3438413"/>
            <a:ext cx="256032" cy="256032"/>
          </a:xfrm>
          <a:prstGeom prst="rect">
            <a:avLst/>
          </a:prstGeom>
        </p:spPr>
      </p:pic>
      <p:sp>
        <p:nvSpPr>
          <p:cNvPr id="20" name="Text 11"/>
          <p:cNvSpPr/>
          <p:nvPr/>
        </p:nvSpPr>
        <p:spPr>
          <a:xfrm>
            <a:off x="6824831" y="3269249"/>
            <a:ext cx="4480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 motor/valve control to shut off inflow once tank reaches capacity</a:t>
            </a:r>
            <a:endParaRPr lang="en-US" sz="1250" dirty="0"/>
          </a:p>
        </p:txBody>
      </p:sp>
      <p:pic>
        <p:nvPicPr>
          <p:cNvPr id="21" name="Image 7" descr="/home/claude/aquatracker/icons/wrench_1C729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13351" y="4215653"/>
            <a:ext cx="256032" cy="256032"/>
          </a:xfrm>
          <a:prstGeom prst="rect">
            <a:avLst/>
          </a:prstGeom>
        </p:spPr>
      </p:pic>
      <p:sp>
        <p:nvSpPr>
          <p:cNvPr id="22" name="Text 12"/>
          <p:cNvSpPr/>
          <p:nvPr/>
        </p:nvSpPr>
        <p:spPr>
          <a:xfrm>
            <a:off x="6824831" y="4046489"/>
            <a:ext cx="4480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Multi-tank support with a single GSM hub for larger sites</a:t>
            </a:r>
            <a:endParaRPr lang="en-US" sz="1250" dirty="0"/>
          </a:p>
        </p:txBody>
      </p:sp>
      <p:sp>
        <p:nvSpPr>
          <p:cNvPr id="25" name="Text 18">
            <a:extLst>
              <a:ext uri="{FF2B5EF4-FFF2-40B4-BE49-F238E27FC236}">
                <a16:creationId xmlns:a16="http://schemas.microsoft.com/office/drawing/2014/main" id="{6E912DC0-7760-42FE-8A49-DDDC3988360C}"/>
              </a:ext>
            </a:extLst>
          </p:cNvPr>
          <p:cNvSpPr/>
          <p:nvPr/>
        </p:nvSpPr>
        <p:spPr>
          <a:xfrm>
            <a:off x="11127737" y="6217921"/>
            <a:ext cx="728263" cy="361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5C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AquaTracker</a:t>
            </a:r>
            <a:endParaRPr lang="en-US" sz="1000" dirty="0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07216C23-8E1D-4BB8-83E9-62FC9662F78A}"/>
              </a:ext>
            </a:extLst>
          </p:cNvPr>
          <p:cNvSpPr/>
          <p:nvPr/>
        </p:nvSpPr>
        <p:spPr>
          <a:xfrm>
            <a:off x="336000" y="279000"/>
            <a:ext cx="11520000" cy="6300000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2129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B3DDFB4F-0DFA-4E01-A0F5-FB3A904CE90F}"/>
              </a:ext>
            </a:extLst>
          </p:cNvPr>
          <p:cNvSpPr/>
          <p:nvPr/>
        </p:nvSpPr>
        <p:spPr>
          <a:xfrm>
            <a:off x="336000" y="279000"/>
            <a:ext cx="11520000" cy="6300000"/>
          </a:xfrm>
          <a:prstGeom prst="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5" name="Text 2"/>
          <p:cNvSpPr/>
          <p:nvPr/>
        </p:nvSpPr>
        <p:spPr>
          <a:xfrm>
            <a:off x="548640" y="292608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400" b="1" dirty="0"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4400" dirty="0"/>
          </a:p>
        </p:txBody>
      </p:sp>
      <p:sp>
        <p:nvSpPr>
          <p:cNvPr id="8" name="Text 18">
            <a:extLst>
              <a:ext uri="{FF2B5EF4-FFF2-40B4-BE49-F238E27FC236}">
                <a16:creationId xmlns:a16="http://schemas.microsoft.com/office/drawing/2014/main" id="{9EF57593-FC2A-4FCD-BA81-08988DD9E1CD}"/>
              </a:ext>
            </a:extLst>
          </p:cNvPr>
          <p:cNvSpPr/>
          <p:nvPr/>
        </p:nvSpPr>
        <p:spPr>
          <a:xfrm>
            <a:off x="11127737" y="6217921"/>
            <a:ext cx="728263" cy="361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AquaTracker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51</TotalTime>
  <Words>972</Words>
  <Application>Microsoft Office PowerPoint</Application>
  <PresentationFormat>Widescreen</PresentationFormat>
  <Paragraphs>155</Paragraphs>
  <Slides>12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21" baseType="lpstr">
      <vt:lpstr>Amasis MT Pro Medium</vt:lpstr>
      <vt:lpstr>Aptos Black</vt:lpstr>
      <vt:lpstr>Arial</vt:lpstr>
      <vt:lpstr>Calibri</vt:lpstr>
      <vt:lpstr>Calibri Light</vt:lpstr>
      <vt:lpstr>Cambria</vt:lpstr>
      <vt:lpstr>Times New Roman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Rahul R</cp:lastModifiedBy>
  <cp:revision>9</cp:revision>
  <dcterms:created xsi:type="dcterms:W3CDTF">2026-07-18T14:09:07Z</dcterms:created>
  <dcterms:modified xsi:type="dcterms:W3CDTF">2026-07-18T18:48:47Z</dcterms:modified>
</cp:coreProperties>
</file>